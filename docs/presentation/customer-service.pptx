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bcd0387d7a244b90" /><Relationship Type="http://schemas.openxmlformats.org/officeDocument/2006/relationships/extended-properties" Target="/docProps/app.xml" Id="R75b3adbe23f3425f" /><Relationship Type="http://schemas.openxmlformats.org/officeDocument/2006/relationships/officeDocument" Target="/ppt/presentation.xml" Id="R878a21bfbf4e4d17" /></Relationships>
</file>

<file path=ppt/presentation.xml><?xml version="1.0" encoding="utf-8"?>
<p:presentation xmlns:p="http://schemas.openxmlformats.org/presentationml/2006/main">
  <p:sldMasterIdLst>
    <p:sldMasterId xmlns:r="http://schemas.openxmlformats.org/officeDocument/2006/relationships" id="2147483648" r:id="Rf0cb51e66aaf42ff"/>
  </p:sldMasterIdLst>
  <p:notesMasterIdLst>
    <p:notesMasterId xmlns:r="http://schemas.openxmlformats.org/officeDocument/2006/relationships" r:id="R0f79344e5b0e4c5e"/>
  </p:notesMasterIdLst>
  <p:sldIdLst>
    <p:sldId xmlns:r="http://schemas.openxmlformats.org/officeDocument/2006/relationships" id="256" r:id="Re0ab4108a7a945dd"/>
    <p:sldId xmlns:r="http://schemas.openxmlformats.org/officeDocument/2006/relationships" id="257" r:id="Rc481d6c98b1d4015"/>
    <p:sldId xmlns:r="http://schemas.openxmlformats.org/officeDocument/2006/relationships" id="258" r:id="R865ff1498f774626"/>
    <p:sldId xmlns:r="http://schemas.openxmlformats.org/officeDocument/2006/relationships" id="259" r:id="R12bf39170b68471c"/>
    <p:sldId xmlns:r="http://schemas.openxmlformats.org/officeDocument/2006/relationships" id="260" r:id="R5436a0c72a8c4ac4"/>
    <p:sldId xmlns:r="http://schemas.openxmlformats.org/officeDocument/2006/relationships" id="261" r:id="R3ed1e1ad780542cc"/>
    <p:sldId xmlns:r="http://schemas.openxmlformats.org/officeDocument/2006/relationships" id="262" r:id="Rdd61488bd7b14919"/>
    <p:sldId xmlns:r="http://schemas.openxmlformats.org/officeDocument/2006/relationships" id="263" r:id="R3ab0018abbb84ed4"/>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ec875c137a2e458a" /><Relationship Type="http://schemas.openxmlformats.org/officeDocument/2006/relationships/slideMaster" Target="/ppt/slideMasters/slideMaster1.xml" Id="Rf0cb51e66aaf42ff" /><Relationship Type="http://schemas.openxmlformats.org/officeDocument/2006/relationships/notesMaster" Target="/ppt/notesMasters/notesMaster1.xml" Id="R0f79344e5b0e4c5e" /><Relationship Type="http://schemas.openxmlformats.org/officeDocument/2006/relationships/presProps" Target="/ppt/presProps.xml" Id="R981a96817da54bb9" /><Relationship Type="http://schemas.openxmlformats.org/officeDocument/2006/relationships/tableStyles" Target="/ppt/tableStyles.xml" Id="Ra01807a8a5c54df8" /><Relationship Type="http://schemas.openxmlformats.org/officeDocument/2006/relationships/slide" Target="/ppt/slides/slide1.xml" Id="Re0ab4108a7a945dd" /><Relationship Type="http://schemas.openxmlformats.org/officeDocument/2006/relationships/slide" Target="/ppt/slides/slide2.xml" Id="Rc481d6c98b1d4015" /><Relationship Type="http://schemas.openxmlformats.org/officeDocument/2006/relationships/slide" Target="/ppt/slides/slide3.xml" Id="R865ff1498f774626" /><Relationship Type="http://schemas.openxmlformats.org/officeDocument/2006/relationships/slide" Target="/ppt/slides/slide4.xml" Id="R12bf39170b68471c" /><Relationship Type="http://schemas.openxmlformats.org/officeDocument/2006/relationships/slide" Target="/ppt/slides/slide5.xml" Id="R5436a0c72a8c4ac4" /><Relationship Type="http://schemas.openxmlformats.org/officeDocument/2006/relationships/slide" Target="/ppt/slides/slide6.xml" Id="R3ed1e1ad780542cc" /><Relationship Type="http://schemas.openxmlformats.org/officeDocument/2006/relationships/slide" Target="/ppt/slides/slide7.xml" Id="Rdd61488bd7b14919" /><Relationship Type="http://schemas.openxmlformats.org/officeDocument/2006/relationships/slide" Target="/ppt/slides/slide8.xml" Id="R3ab0018abbb84ed4"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97d1cbcda12440ca"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1ee872d1ed834758" /><Relationship Type="http://schemas.openxmlformats.org/officeDocument/2006/relationships/notesMaster" Target="/ppt/notesMasters/notesMaster1.xml" Id="R4361df6f53e94164" /></Relationships>
</file>

<file path=ppt/notesSlides/_rels/notesSlide2.xml.rels>&#65279;<?xml version="1.0" encoding="utf-8"?><Relationships xmlns="http://schemas.openxmlformats.org/package/2006/relationships"><Relationship Type="http://schemas.openxmlformats.org/officeDocument/2006/relationships/slide" Target="/ppt/slides/slide2.xml" Id="Rb86387ad42864c7a" /><Relationship Type="http://schemas.openxmlformats.org/officeDocument/2006/relationships/notesMaster" Target="/ppt/notesMasters/notesMaster1.xml" Id="R5363f3a00b464fcc" /></Relationships>
</file>

<file path=ppt/notesSlides/_rels/notesSlide3.xml.rels>&#65279;<?xml version="1.0" encoding="utf-8"?><Relationships xmlns="http://schemas.openxmlformats.org/package/2006/relationships"><Relationship Type="http://schemas.openxmlformats.org/officeDocument/2006/relationships/slide" Target="/ppt/slides/slide3.xml" Id="R042a9fa08bf341f4" /><Relationship Type="http://schemas.openxmlformats.org/officeDocument/2006/relationships/notesMaster" Target="/ppt/notesMasters/notesMaster1.xml" Id="R13f65ac16bfc4515" /></Relationships>
</file>

<file path=ppt/notesSlides/_rels/notesSlide4.xml.rels>&#65279;<?xml version="1.0" encoding="utf-8"?><Relationships xmlns="http://schemas.openxmlformats.org/package/2006/relationships"><Relationship Type="http://schemas.openxmlformats.org/officeDocument/2006/relationships/slide" Target="/ppt/slides/slide4.xml" Id="R2a591615208b4889" /><Relationship Type="http://schemas.openxmlformats.org/officeDocument/2006/relationships/notesMaster" Target="/ppt/notesMasters/notesMaster1.xml" Id="R346f9a07539e4fe7" /></Relationships>
</file>

<file path=ppt/notesSlides/_rels/notesSlide5.xml.rels>&#65279;<?xml version="1.0" encoding="utf-8"?><Relationships xmlns="http://schemas.openxmlformats.org/package/2006/relationships"><Relationship Type="http://schemas.openxmlformats.org/officeDocument/2006/relationships/slide" Target="/ppt/slides/slide5.xml" Id="R9cf7ead6bbd04d51" /><Relationship Type="http://schemas.openxmlformats.org/officeDocument/2006/relationships/notesMaster" Target="/ppt/notesMasters/notesMaster1.xml" Id="Rf43e9ee0818743b6" /></Relationships>
</file>

<file path=ppt/notesSlides/_rels/notesSlide6.xml.rels>&#65279;<?xml version="1.0" encoding="utf-8"?><Relationships xmlns="http://schemas.openxmlformats.org/package/2006/relationships"><Relationship Type="http://schemas.openxmlformats.org/officeDocument/2006/relationships/slide" Target="/ppt/slides/slide6.xml" Id="R430539bb3ed04120" /><Relationship Type="http://schemas.openxmlformats.org/officeDocument/2006/relationships/notesMaster" Target="/ppt/notesMasters/notesMaster1.xml" Id="R004f66e6291a41b2" /></Relationships>
</file>

<file path=ppt/notesSlides/_rels/notesSlide7.xml.rels>&#65279;<?xml version="1.0" encoding="utf-8"?><Relationships xmlns="http://schemas.openxmlformats.org/package/2006/relationships"><Relationship Type="http://schemas.openxmlformats.org/officeDocument/2006/relationships/slide" Target="/ppt/slides/slide7.xml" Id="R524cc9f89b214ab6" /><Relationship Type="http://schemas.openxmlformats.org/officeDocument/2006/relationships/notesMaster" Target="/ppt/notesMasters/notesMaster1.xml" Id="R94915fb77c5044fe" /></Relationships>
</file>

<file path=ppt/notesSlides/_rels/notesSlide8.xml.rels>&#65279;<?xml version="1.0" encoding="utf-8"?><Relationships xmlns="http://schemas.openxmlformats.org/package/2006/relationships"><Relationship Type="http://schemas.openxmlformats.org/officeDocument/2006/relationships/slide" Target="/ppt/slides/slide8.xml" Id="R67a94f444c564fdf" /><Relationship Type="http://schemas.openxmlformats.org/officeDocument/2006/relationships/notesMaster" Target="/ppt/notesMasters/notesMaster1.xml" Id="R3d2134b1a03140a8"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이번 발표는 넥슨 웹사이트 클론 코딩 프로젝트의 고객센터 담당 페이지에 관한 내용입니다. 고객센터의 화면을 HTML과 CSS로 구성했고, 전체 배치와 게임 목록, 스크롤 메뉴, 마우스와 키보드 반응을 중심으로 설명하겠습니다. 이 프로젝트는 팀원별로 페이지를 나누어 구현하는 HTML/CSS 학습 프로젝트입니다.</a:t>
            </a:r>
          </a:p>
          <a:p xmlns:a="http://schemas.openxmlformats.org/drawingml/2006/main">
            <a:r>
              <a:t/>
            </a:r>
          </a:p>
          <a:p xmlns:a="http://schemas.openxmlformats.org/drawingml/2006/main">
            <a:r>
              <a:t>근거: AX-web-clone main, 79003e6. README.md, html/04_customer_service.html, css/04_customer_service.css</a:t>
            </a:r>
          </a:p>
          <a:p xmlns:a="http://schemas.openxmlformats.org/drawingml/2006/main">
            <a:r>
              <a:t>화면 캡처: 해당 커밋의 HTML/CSS와 로컬 원본 이미지. NEXON 및 각 게임 이미지의 권리는 원 권리자에게 있습니다.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전체 화면은 위쪽 서비스 메뉴, 왼쪽 고객센터 메뉴, 오른쪽 본문으로 나뉩니다. 본문 위에는 로그인 안내가 있고, 아래에는 25개의 게임 및 서비스 카드가 있습니다. 사용자는 게임을 선택해 해당 문의 페이지로 이동할 수 있습니다. 화면의 정보 구조와 간격을 HTML과 CSS로 재현한 것이 이번 구현의 중심입니다.</a:t>
            </a:r>
          </a:p>
          <a:p xmlns:a="http://schemas.openxmlformats.org/drawingml/2006/main">
            <a:r>
              <a:t/>
            </a:r>
          </a:p>
          <a:p xmlns:a="http://schemas.openxmlformats.org/drawingml/2006/main">
            <a:r>
              <a:t>근거: AX-web-clone main, 79003e6. html/04_customer_service.html</a:t>
            </a:r>
          </a:p>
          <a:p xmlns:a="http://schemas.openxmlformats.org/drawingml/2006/main">
            <a:r>
              <a:t>화면 캡처: 해당 커밋의 HTML/CSS와 로컬 원본 이미지. NEXON 및 각 게임 이미지의 권리는 원 권리자에게 있습니다.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HTML은 header, aside, main, footer로 역할을 나눴습니다. CSS에서는 service-layout을 Flex 컨테이너로 만들고, 왼쪽 메뉴는 flex: 0 0 80px로 너비를 고정했습니다. 오른쪽 콘텐츠에는 flex: 1을 적용해 남은 공간을 사용하게 했습니다. min-width: 0은 Flex 항목의 기본 최소 너비 때문에 콘텐츠 영역이 불필요하게 커지는 것을 막는 역할입니다.</a:t>
            </a:r>
          </a:p>
          <a:p xmlns:a="http://schemas.openxmlformats.org/drawingml/2006/main">
            <a:r>
              <a:t/>
            </a:r>
          </a:p>
          <a:p xmlns:a="http://schemas.openxmlformats.org/drawingml/2006/main">
            <a:r>
              <a:t>근거: AX-web-clone main, 79003e6. html/04_customer_service.html, css/04_customer_service.css: .service-layout, .sidebar, .service-content</a:t>
            </a:r>
          </a:p>
          <a:p xmlns:a="http://schemas.openxmlformats.org/drawingml/2006/main">
            <a:r>
              <a:t>화면 캡처: 해당 커밋의 HTML/CSS와 로컬 원본 이미지. NEXON 및 각 게임 이미지의 권리는 원 권리자에게 있습니다.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게임 목록은 각 카드의 크기를 일정하게 맞추고 Flex의 줄바꿈으로 배치했습니다. 카드의 전체 너비는 테두리를 포함해 138픽셀이고 이미지는 136픽셀 정사각형입니다. 이름은 높이 50픽셀 영역에서 중앙에 정렬합니다. 카드마다 margin을 넣는 대신 gap으로 가로와 세로 간격을 한 곳에서 관리합니다. 공간이 부족하면 다음 줄로 이동하며, 이 동작만으로 전체 모바일 화면 대응을 완료했다고 볼 수는 없습니다.</a:t>
            </a:r>
          </a:p>
          <a:p xmlns:a="http://schemas.openxmlformats.org/drawingml/2006/main">
            <a:r>
              <a:t/>
            </a:r>
          </a:p>
          <a:p xmlns:a="http://schemas.openxmlformats.org/drawingml/2006/main">
            <a:r>
              <a:t>근거: AX-web-clone main, 79003e6. css/04_customer_service.css: .game-list, .game-card, .game-card img, .game-name</a:t>
            </a:r>
          </a:p>
          <a:p xmlns:a="http://schemas.openxmlformats.org/drawingml/2006/main">
            <a:r>
              <a:t>화면 캡처: 해당 커밋의 HTML/CSS와 로컬 원본 이미지. NEXON 및 각 게임 이미지의 권리는 원 권리자에게 있습니다.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왼쪽 메뉴는 aside 전체를 화면에 고정하지 않고 그 안의 nav에 sticky를 적용했습니다. 그러면 회색 배경은 본문 높이만큼 이어지고, 실제 메뉴는 스크롤 중 화면 위에 붙습니다. sticky는 부모 영역 안에서 동작하므로 항상 화면 전체를 기준으로 고정하는 fixed와 차이가 있습니다. 메뉴 높이가 화면보다 커지는 경우를 고려해 최대 높이와 세로 스크롤도 지정했습니다.</a:t>
            </a:r>
          </a:p>
          <a:p xmlns:a="http://schemas.openxmlformats.org/drawingml/2006/main">
            <a:r>
              <a:t/>
            </a:r>
          </a:p>
          <a:p xmlns:a="http://schemas.openxmlformats.org/drawingml/2006/main">
            <a:r>
              <a:t>근거: AX-web-clone main, 79003e6. css/04_customer_service.css: .sidebar, .sidebar nav</a:t>
            </a:r>
          </a:p>
          <a:p xmlns:a="http://schemas.openxmlformats.org/drawingml/2006/main">
            <a:r>
              <a:t>화면 캡처: 해당 커밋의 HTML/CSS와 로컬 원본 이미지. NEXON 및 각 게임 이미지의 권리는 원 권리자에게 있습니다.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로그인 버튼은 기본 상태에서 검정색이고 마우스를 올리면 파란색으로 바뀝니다. 같은 강조색을 focus-visible에도 적용했기 때문에 키보드로 이동할 때도 선택 위치를 확인할 수 있습니다. 게임 카드에는 같은 두 선택자를 사용해 그림자를 추가합니다. 그림자만 바꾸므로 선택할 때 카드 너비나 주변 배치가 바뀌지 않습니다. JavaScript 없이 CSS 선택자와 transition으로 표현한 부분입니다.</a:t>
            </a:r>
          </a:p>
          <a:p xmlns:a="http://schemas.openxmlformats.org/drawingml/2006/main">
            <a:r>
              <a:t/>
            </a:r>
          </a:p>
          <a:p xmlns:a="http://schemas.openxmlformats.org/drawingml/2006/main">
            <a:r>
              <a:t>근거: AX-web-clone main, 79003e6. css/04_customer_service.css: .login-button:hover, .login-button:focus-visible, .game-card:hover, .game-card:focus-visible</a:t>
            </a:r>
          </a:p>
          <a:p xmlns:a="http://schemas.openxmlformats.org/drawingml/2006/main">
            <a:r>
              <a:t>화면 캡처: 해당 커밋의 HTML/CSS와 로컬 원본 이미지. NEXON 및 각 게임 이미지의 권리는 원 권리자에게 있습니다.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상단 링크는 팀에서 구현한 페이지를 연결하는 역할을 합니다. 로고는 메인 페이지, 로그인과 회원가입은 로그인 페이지를 가리키며 공지사항, MY결제, 보안센터도 상대 경로로 연결했습니다. 게임별 문의와 도움말은 외부 서비스 주소를 사용합니다. 이는 링크 이동을 구현한 것으로 실제 로그인 인증이나 문의 접수 처리를 이 페이지 안에서 구현한 것은 아닙니다.</a:t>
            </a:r>
          </a:p>
          <a:p xmlns:a="http://schemas.openxmlformats.org/drawingml/2006/main">
            <a:r>
              <a:t/>
            </a:r>
          </a:p>
          <a:p xmlns:a="http://schemas.openxmlformats.org/drawingml/2006/main">
            <a:r>
              <a:t>근거: AX-web-clone main, 79003e6. html/04_customer_service.html: a href 속성</a:t>
            </a:r>
          </a:p>
          <a:p xmlns:a="http://schemas.openxmlformats.org/drawingml/2006/main">
            <a:r>
              <a:t>화면 캡처: 해당 커밋의 HTML/CSS와 로컬 원본 이미지. NEXON 및 각 게임 이미지의 권리는 원 권리자에게 있습니다.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구현 범위는 정적인 고객센터 화면과 CSS 상호작용, 링크 연결입니다. 로그인 인증과 문의 접수 같은 서버 기능은 포함하지 않았습니다. 메뉴와 전체 서비스 보기 버튼도 화면 요소만 있고 별도 동작은 연결하지 않았습니다. CSS에는 이 페이지 전용 미디어쿼리가 없습니다. 마지막으로 전체 화면을 보여 준 뒤 아래로 스크롤해 왼쪽 메뉴를 확인하고, 로그인 버튼과 게임 카드의 선택 상태, 내부 페이지 링크를 차례로 시연합니다.</a:t>
            </a:r>
          </a:p>
          <a:p xmlns:a="http://schemas.openxmlformats.org/drawingml/2006/main">
            <a:r>
              <a:t/>
            </a:r>
          </a:p>
          <a:p xmlns:a="http://schemas.openxmlformats.org/drawingml/2006/main">
            <a:r>
              <a:t>근거: AX-web-clone main, 79003e6. html/04_customer_service.html, css/04_customer_service.css</a:t>
            </a:r>
          </a:p>
          <a:p xmlns:a="http://schemas.openxmlformats.org/drawingml/2006/main">
            <a:r>
              <a:t>화면 캡처: 해당 커밋의 HTML/CSS와 로컬 원본 이미지. NEXON 및 각 게임 이미지의 권리는 원 권리자에게 있습니다.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6c0e8b5cd2bc4206"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0f9f7451dfce4e05" /><Relationship Type="http://schemas.openxmlformats.org/officeDocument/2006/relationships/slideLayout" Target="/ppt/slideLayouts/slideLayout1.xml" Id="Rb1fb08120170479c"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b1fb08120170479c"/>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3978cf47f7794e1b" /><Relationship Type="http://schemas.openxmlformats.org/officeDocument/2006/relationships/notesSlide" Target="/ppt/notesSlides/notesSlide1.xml" Id="R4bd4f640986a4aad"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8e565fb965e74fed" /><Relationship Type="http://schemas.openxmlformats.org/officeDocument/2006/relationships/image" Target="/ppt/media/image.png" Id="R62135b838de94bcc" /><Relationship Type="http://schemas.openxmlformats.org/officeDocument/2006/relationships/notesSlide" Target="/ppt/notesSlides/notesSlide2.xml" Id="Rca7761c571fd416a"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3c0951e616a54cee" /><Relationship Type="http://schemas.openxmlformats.org/officeDocument/2006/relationships/notesSlide" Target="/ppt/notesSlides/notesSlide3.xml" Id="Rf9c20569fa714517"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80229a2c360c4f77" /><Relationship Type="http://schemas.openxmlformats.org/officeDocument/2006/relationships/image" Target="/ppt/media/image2.png" Id="Rd0acc8d774764b12" /><Relationship Type="http://schemas.openxmlformats.org/officeDocument/2006/relationships/notesSlide" Target="/ppt/notesSlides/notesSlide4.xml" Id="Rd197a57f00694bf9"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f3148d92ccca4c14" /><Relationship Type="http://schemas.openxmlformats.org/officeDocument/2006/relationships/image" Target="/ppt/media/image3.png" Id="R43b6ee100f694b17" /><Relationship Type="http://schemas.openxmlformats.org/officeDocument/2006/relationships/notesSlide" Target="/ppt/notesSlides/notesSlide5.xml" Id="R80840e359a894fb7"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9da356f67bd4468c" /><Relationship Type="http://schemas.openxmlformats.org/officeDocument/2006/relationships/image" Target="/ppt/media/image4.png" Id="R79bca34c7b7f40e3" /><Relationship Type="http://schemas.openxmlformats.org/officeDocument/2006/relationships/image" Target="/ppt/media/image5.png" Id="R29e4d485d0254c03" /><Relationship Type="http://schemas.openxmlformats.org/officeDocument/2006/relationships/notesSlide" Target="/ppt/notesSlides/notesSlide6.xml" Id="R8e39a349beee46f4"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3df1e2997cac421f" /><Relationship Type="http://schemas.openxmlformats.org/officeDocument/2006/relationships/image" Target="/ppt/media/image6.png" Id="Rebdc2b46281f4e70" /><Relationship Type="http://schemas.openxmlformats.org/officeDocument/2006/relationships/notesSlide" Target="/ppt/notesSlides/notesSlide7.xml" Id="Red7de629f1454397"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541254b00c8c48c8" /><Relationship Type="http://schemas.openxmlformats.org/officeDocument/2006/relationships/notesSlide" Target="/ppt/notesSlides/notesSlide8.xml" Id="R7a73d5059e97400c"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 name="text-0">
            <a:extLst xmlns:a="http://schemas.openxmlformats.org/drawingml/2006/main">
              <a:ext uri="{FF2B5EF4-FFF2-40B4-BE49-F238E27FC236}">
                <a16:creationId xmlns:a16="http://schemas.microsoft.com/office/drawing/2014/main" id="{B9D1B7BD-AC47-48C1-A94A-9122290A9E76}"/>
              </a:ext>
            </a:extLst>
          </p:cNvPr>
          <p:cNvSpPr>
            <a:spLocks xmlns:a="http://schemas.openxmlformats.org/drawingml/2006/main" noGrp="1"/>
          </p:cNvSpPr>
          <p:nvPr/>
        </p:nvSpPr>
        <p:spPr>
          <a:xfrm xmlns:a="http://schemas.openxmlformats.org/drawingml/2006/main">
            <a:off x="647700" y="1066800"/>
            <a:ext cx="95250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1">
                <a:solidFill>
                  <a:srgbClr val="005CC9"/>
                </a:solidFill>
                <a:latin typeface="Malgun Gothic"/>
                <a:ea typeface="Malgun Gothic"/>
                <a:cs typeface="Malgun Gothic"/>
              </a:defRPr>
            </a:pPr>
            <a:r>
              <a:rPr sz="2100" b="1">
                <a:solidFill>
                  <a:srgbClr val="005CC9"/>
                </a:solidFill>
                <a:latin typeface="Malgun Gothic"/>
                <a:ea typeface="Malgun Gothic"/>
                <a:cs typeface="Malgun Gothic"/>
              </a:rPr>
              <a:t>HTML / CSS 클론 코딩</a:t>
            </a:r>
          </a:p>
        </p:txBody>
      </p:sp>
      <p:sp>
        <p:nvSpPr>
          <p:cNvPr id="2" name="text-1">
            <a:extLst xmlns:a="http://schemas.openxmlformats.org/drawingml/2006/main">
              <a:ext uri="{FF2B5EF4-FFF2-40B4-BE49-F238E27FC236}">
                <a16:creationId xmlns:a16="http://schemas.microsoft.com/office/drawing/2014/main" id="{5ED546C5-CC55-40FA-9EF6-46E9237058C9}"/>
              </a:ext>
            </a:extLst>
          </p:cNvPr>
          <p:cNvSpPr>
            <a:spLocks xmlns:a="http://schemas.openxmlformats.org/drawingml/2006/main" noGrp="1"/>
          </p:cNvSpPr>
          <p:nvPr/>
        </p:nvSpPr>
        <p:spPr>
          <a:xfrm xmlns:a="http://schemas.openxmlformats.org/drawingml/2006/main">
            <a:off x="609600" y="2076450"/>
            <a:ext cx="106680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5850" b="1">
                <a:solidFill>
                  <a:srgbClr val="18191C"/>
                </a:solidFill>
                <a:latin typeface="Malgun Gothic"/>
                <a:ea typeface="Malgun Gothic"/>
                <a:cs typeface="Malgun Gothic"/>
              </a:defRPr>
            </a:pPr>
            <a:r>
              <a:rPr sz="5850" b="1">
                <a:solidFill>
                  <a:srgbClr val="18191C"/>
                </a:solidFill>
                <a:latin typeface="Malgun Gothic"/>
                <a:ea typeface="Malgun Gothic"/>
                <a:cs typeface="Malgun Gothic"/>
              </a:rPr>
              <a:t>넥슨 고객센터</a:t>
            </a:r>
          </a:p>
        </p:txBody>
      </p:sp>
      <p:sp>
        <p:nvSpPr>
          <p:cNvPr id="3" name="text-2">
            <a:extLst xmlns:a="http://schemas.openxmlformats.org/drawingml/2006/main">
              <a:ext uri="{FF2B5EF4-FFF2-40B4-BE49-F238E27FC236}">
                <a16:creationId xmlns:a16="http://schemas.microsoft.com/office/drawing/2014/main" id="{F006CDF1-B31B-4FE0-ADBF-72091CEEA137}"/>
              </a:ext>
            </a:extLst>
          </p:cNvPr>
          <p:cNvSpPr>
            <a:spLocks xmlns:a="http://schemas.openxmlformats.org/drawingml/2006/main" noGrp="1"/>
          </p:cNvSpPr>
          <p:nvPr/>
        </p:nvSpPr>
        <p:spPr>
          <a:xfrm xmlns:a="http://schemas.openxmlformats.org/drawingml/2006/main">
            <a:off x="647700" y="3295650"/>
            <a:ext cx="10477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0">
                <a:solidFill>
                  <a:srgbClr val="555D6B"/>
                </a:solidFill>
                <a:latin typeface="Malgun Gothic"/>
                <a:ea typeface="Malgun Gothic"/>
                <a:cs typeface="Malgun Gothic"/>
              </a:defRPr>
            </a:pPr>
            <a:r>
              <a:rPr sz="3000" b="0">
                <a:solidFill>
                  <a:srgbClr val="555D6B"/>
                </a:solidFill>
                <a:latin typeface="Malgun Gothic"/>
                <a:ea typeface="Malgun Gothic"/>
                <a:cs typeface="Malgun Gothic"/>
              </a:rPr>
              <a:t>화면 구조와 CSS 구현</a:t>
            </a:r>
          </a:p>
        </p:txBody>
      </p:sp>
      <p:sp>
        <p:nvSpPr>
          <p:cNvPr id="4" name="text-3">
            <a:extLst xmlns:a="http://schemas.openxmlformats.org/drawingml/2006/main">
              <a:ext uri="{FF2B5EF4-FFF2-40B4-BE49-F238E27FC236}">
                <a16:creationId xmlns:a16="http://schemas.microsoft.com/office/drawing/2014/main" id="{340EAB52-1DC2-4218-8291-4886AD6A410F}"/>
              </a:ext>
            </a:extLst>
          </p:cNvPr>
          <p:cNvSpPr>
            <a:spLocks xmlns:a="http://schemas.openxmlformats.org/drawingml/2006/main" noGrp="1"/>
          </p:cNvSpPr>
          <p:nvPr/>
        </p:nvSpPr>
        <p:spPr>
          <a:xfrm xmlns:a="http://schemas.openxmlformats.org/drawingml/2006/main">
            <a:off x="647700" y="5276850"/>
            <a:ext cx="76200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555D6B"/>
                </a:solidFill>
                <a:latin typeface="Malgun Gothic"/>
                <a:ea typeface="Malgun Gothic"/>
                <a:cs typeface="Malgun Gothic"/>
              </a:defRPr>
            </a:pPr>
            <a:r>
              <a:rPr sz="1950" b="0">
                <a:solidFill>
                  <a:srgbClr val="555D6B"/>
                </a:solidFill>
                <a:latin typeface="Malgun Gothic"/>
                <a:ea typeface="Malgun Gothic"/>
                <a:cs typeface="Malgun Gothic"/>
              </a:rPr>
              <a:t>AX-web-clone</a:t>
            </a:r>
          </a:p>
          <a:p xmlns:a="http://schemas.openxmlformats.org/drawingml/2006/main">
            <a:pPr>
              <a:defRPr sz="1950" b="0">
                <a:solidFill>
                  <a:srgbClr val="555D6B"/>
                </a:solidFill>
                <a:latin typeface="Malgun Gothic"/>
                <a:ea typeface="Malgun Gothic"/>
                <a:cs typeface="Malgun Gothic"/>
              </a:defRPr>
            </a:pPr>
            <a:r>
              <a:rPr sz="1950" b="0">
                <a:solidFill>
                  <a:srgbClr val="555D6B"/>
                </a:solidFill>
                <a:latin typeface="Malgun Gothic"/>
                <a:ea typeface="Malgun Gothic"/>
                <a:cs typeface="Malgun Gothic"/>
              </a:rPr>
              <a:t>양석호</a:t>
            </a:r>
          </a:p>
        </p:txBody>
      </p:sp>
    </p:spTree>
    <p:extLst>
      <p:ext uri="{BB962C8B-B14F-4D97-AF65-F5344CB8AC3E}">
        <p14:creationId xmlns:p14="http://schemas.microsoft.com/office/powerpoint/2010/main" val="1492783317"/>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text-4">
            <a:extLst xmlns:a="http://schemas.openxmlformats.org/drawingml/2006/main">
              <a:ext uri="{FF2B5EF4-FFF2-40B4-BE49-F238E27FC236}">
                <a16:creationId xmlns:a16="http://schemas.microsoft.com/office/drawing/2014/main" id="{EC51B507-DB12-4959-A4B8-9E812A20E45D}"/>
              </a:ext>
            </a:extLst>
          </p:cNvPr>
          <p:cNvSpPr>
            <a:spLocks xmlns:a="http://schemas.openxmlformats.org/drawingml/2006/main" noGrp="1"/>
          </p:cNvSpPr>
          <p:nvPr/>
        </p:nvSpPr>
        <p:spPr>
          <a:xfrm xmlns:a="http://schemas.openxmlformats.org/drawingml/2006/main">
            <a:off x="609600" y="438150"/>
            <a:ext cx="109728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450" b="1">
                <a:solidFill>
                  <a:srgbClr val="18191C"/>
                </a:solidFill>
                <a:latin typeface="Malgun Gothic"/>
                <a:ea typeface="Malgun Gothic"/>
                <a:cs typeface="Malgun Gothic"/>
              </a:defRPr>
            </a:pPr>
            <a:r>
              <a:rPr sz="3450" b="1">
                <a:solidFill>
                  <a:srgbClr val="18191C"/>
                </a:solidFill>
                <a:latin typeface="Malgun Gothic"/>
                <a:ea typeface="Malgun Gothic"/>
                <a:cs typeface="Malgun Gothic"/>
              </a:rPr>
              <a:t>고객센터 구현 화면</a:t>
            </a:r>
          </a:p>
        </p:txBody>
      </p:sp>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62135b838de94bcc"/>
          <a:stretch xmlns:a="http://schemas.openxmlformats.org/drawingml/2006/main"/>
        </p:blipFill>
        <p:spPr>
          <a:xfrm xmlns:a="http://schemas.openxmlformats.org/drawingml/2006/main">
            <a:off x="514350" y="1316302"/>
            <a:ext cx="7867650" cy="5463646"/>
          </a:xfrm>
          <a:prstGeom xmlns:a="http://schemas.openxmlformats.org/drawingml/2006/main" prst="rect">
            <a:avLst/>
          </a:prstGeom>
        </p:spPr>
      </p:pic>
      <p:sp>
        <p:nvSpPr>
          <p:cNvPr id="3" name="text-5">
            <a:extLst xmlns:a="http://schemas.openxmlformats.org/drawingml/2006/main">
              <a:ext uri="{FF2B5EF4-FFF2-40B4-BE49-F238E27FC236}">
                <a16:creationId xmlns:a16="http://schemas.microsoft.com/office/drawing/2014/main" id="{6D2088FD-C7D9-4816-BDA7-711B55420173}"/>
              </a:ext>
            </a:extLst>
          </p:cNvPr>
          <p:cNvSpPr>
            <a:spLocks xmlns:a="http://schemas.openxmlformats.org/drawingml/2006/main" noGrp="1"/>
          </p:cNvSpPr>
          <p:nvPr/>
        </p:nvSpPr>
        <p:spPr>
          <a:xfrm xmlns:a="http://schemas.openxmlformats.org/drawingml/2006/main">
            <a:off x="8782050" y="1676400"/>
            <a:ext cx="2800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005CC9"/>
                </a:solidFill>
                <a:latin typeface="Malgun Gothic"/>
                <a:ea typeface="Malgun Gothic"/>
                <a:cs typeface="Malgun Gothic"/>
              </a:defRPr>
            </a:pPr>
            <a:r>
              <a:rPr sz="2025" b="1">
                <a:solidFill>
                  <a:srgbClr val="005CC9"/>
                </a:solidFill>
                <a:latin typeface="Malgun Gothic"/>
                <a:ea typeface="Malgun Gothic"/>
                <a:cs typeface="Malgun Gothic"/>
              </a:rPr>
              <a:t>상단 서비스 메뉴</a:t>
            </a:r>
          </a:p>
        </p:txBody>
      </p:sp>
      <p:sp>
        <p:nvSpPr>
          <p:cNvPr id="4" name="text-6">
            <a:extLst xmlns:a="http://schemas.openxmlformats.org/drawingml/2006/main">
              <a:ext uri="{FF2B5EF4-FFF2-40B4-BE49-F238E27FC236}">
                <a16:creationId xmlns:a16="http://schemas.microsoft.com/office/drawing/2014/main" id="{9639767C-F0CF-4D79-8748-A5C1B175F297}"/>
              </a:ext>
            </a:extLst>
          </p:cNvPr>
          <p:cNvSpPr>
            <a:spLocks xmlns:a="http://schemas.openxmlformats.org/drawingml/2006/main" noGrp="1"/>
          </p:cNvSpPr>
          <p:nvPr/>
        </p:nvSpPr>
        <p:spPr>
          <a:xfrm xmlns:a="http://schemas.openxmlformats.org/drawingml/2006/main">
            <a:off x="8782050" y="2219325"/>
            <a:ext cx="28003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18191C"/>
                </a:solidFill>
                <a:latin typeface="Malgun Gothic"/>
                <a:ea typeface="Malgun Gothic"/>
                <a:cs typeface="Malgun Gothic"/>
              </a:defRPr>
            </a:pPr>
            <a:r>
              <a:rPr sz="1875" b="0">
                <a:solidFill>
                  <a:srgbClr val="18191C"/>
                </a:solidFill>
                <a:latin typeface="Malgun Gothic"/>
                <a:ea typeface="Malgun Gothic"/>
                <a:cs typeface="Malgun Gothic"/>
              </a:rPr>
              <a:t>팀의 다른 페이지로 이동</a:t>
            </a:r>
          </a:p>
        </p:txBody>
      </p:sp>
      <p:sp>
        <p:nvSpPr>
          <p:cNvPr id="5" name="text-7">
            <a:extLst xmlns:a="http://schemas.openxmlformats.org/drawingml/2006/main">
              <a:ext uri="{FF2B5EF4-FFF2-40B4-BE49-F238E27FC236}">
                <a16:creationId xmlns:a16="http://schemas.microsoft.com/office/drawing/2014/main" id="{28AEE40C-360D-437F-8047-E54369443319}"/>
              </a:ext>
            </a:extLst>
          </p:cNvPr>
          <p:cNvSpPr>
            <a:spLocks xmlns:a="http://schemas.openxmlformats.org/drawingml/2006/main" noGrp="1"/>
          </p:cNvSpPr>
          <p:nvPr/>
        </p:nvSpPr>
        <p:spPr>
          <a:xfrm xmlns:a="http://schemas.openxmlformats.org/drawingml/2006/main">
            <a:off x="8782050" y="3295650"/>
            <a:ext cx="2800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005CC9"/>
                </a:solidFill>
                <a:latin typeface="Malgun Gothic"/>
                <a:ea typeface="Malgun Gothic"/>
                <a:cs typeface="Malgun Gothic"/>
              </a:defRPr>
            </a:pPr>
            <a:r>
              <a:rPr sz="2025" b="1">
                <a:solidFill>
                  <a:srgbClr val="005CC9"/>
                </a:solidFill>
                <a:latin typeface="Malgun Gothic"/>
                <a:ea typeface="Malgun Gothic"/>
                <a:cs typeface="Malgun Gothic"/>
              </a:rPr>
              <a:t>왼쪽 고객센터 메뉴</a:t>
            </a:r>
          </a:p>
        </p:txBody>
      </p:sp>
      <p:sp>
        <p:nvSpPr>
          <p:cNvPr id="6" name="text-8">
            <a:extLst xmlns:a="http://schemas.openxmlformats.org/drawingml/2006/main">
              <a:ext uri="{FF2B5EF4-FFF2-40B4-BE49-F238E27FC236}">
                <a16:creationId xmlns:a16="http://schemas.microsoft.com/office/drawing/2014/main" id="{E2A5FAB9-DA27-4BB7-BDFC-608DB4F7E665}"/>
              </a:ext>
            </a:extLst>
          </p:cNvPr>
          <p:cNvSpPr>
            <a:spLocks xmlns:a="http://schemas.openxmlformats.org/drawingml/2006/main" noGrp="1"/>
          </p:cNvSpPr>
          <p:nvPr/>
        </p:nvSpPr>
        <p:spPr>
          <a:xfrm xmlns:a="http://schemas.openxmlformats.org/drawingml/2006/main">
            <a:off x="8782050" y="3838575"/>
            <a:ext cx="28003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18191C"/>
                </a:solidFill>
                <a:latin typeface="Malgun Gothic"/>
                <a:ea typeface="Malgun Gothic"/>
                <a:cs typeface="Malgun Gothic"/>
              </a:defRPr>
            </a:pPr>
            <a:r>
              <a:rPr sz="1875" b="0">
                <a:solidFill>
                  <a:srgbClr val="18191C"/>
                </a:solidFill>
                <a:latin typeface="Malgun Gothic"/>
                <a:ea typeface="Malgun Gothic"/>
                <a:cs typeface="Malgun Gothic"/>
              </a:rPr>
              <a:t>게임 구분과 도움말 링크</a:t>
            </a:r>
          </a:p>
        </p:txBody>
      </p:sp>
      <p:sp>
        <p:nvSpPr>
          <p:cNvPr id="7" name="text-9">
            <a:extLst xmlns:a="http://schemas.openxmlformats.org/drawingml/2006/main">
              <a:ext uri="{FF2B5EF4-FFF2-40B4-BE49-F238E27FC236}">
                <a16:creationId xmlns:a16="http://schemas.microsoft.com/office/drawing/2014/main" id="{01613424-96A6-400F-915F-5AD90F03E79B}"/>
              </a:ext>
            </a:extLst>
          </p:cNvPr>
          <p:cNvSpPr>
            <a:spLocks xmlns:a="http://schemas.openxmlformats.org/drawingml/2006/main" noGrp="1"/>
          </p:cNvSpPr>
          <p:nvPr/>
        </p:nvSpPr>
        <p:spPr>
          <a:xfrm xmlns:a="http://schemas.openxmlformats.org/drawingml/2006/main">
            <a:off x="8782050" y="4914900"/>
            <a:ext cx="2800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005CC9"/>
                </a:solidFill>
                <a:latin typeface="Malgun Gothic"/>
                <a:ea typeface="Malgun Gothic"/>
                <a:cs typeface="Malgun Gothic"/>
              </a:defRPr>
            </a:pPr>
            <a:r>
              <a:rPr sz="2025" b="1">
                <a:solidFill>
                  <a:srgbClr val="005CC9"/>
                </a:solidFill>
                <a:latin typeface="Malgun Gothic"/>
                <a:ea typeface="Malgun Gothic"/>
                <a:cs typeface="Malgun Gothic"/>
              </a:rPr>
              <a:t>본문 게임 목록</a:t>
            </a:r>
          </a:p>
        </p:txBody>
      </p:sp>
      <p:sp>
        <p:nvSpPr>
          <p:cNvPr id="8" name="text-10">
            <a:extLst xmlns:a="http://schemas.openxmlformats.org/drawingml/2006/main">
              <a:ext uri="{FF2B5EF4-FFF2-40B4-BE49-F238E27FC236}">
                <a16:creationId xmlns:a16="http://schemas.microsoft.com/office/drawing/2014/main" id="{4D12E2CD-D57D-419E-9C06-7F86B71A8ADB}"/>
              </a:ext>
            </a:extLst>
          </p:cNvPr>
          <p:cNvSpPr>
            <a:spLocks xmlns:a="http://schemas.openxmlformats.org/drawingml/2006/main" noGrp="1"/>
          </p:cNvSpPr>
          <p:nvPr/>
        </p:nvSpPr>
        <p:spPr>
          <a:xfrm xmlns:a="http://schemas.openxmlformats.org/drawingml/2006/main">
            <a:off x="8782050" y="5457825"/>
            <a:ext cx="28003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18191C"/>
                </a:solidFill>
                <a:latin typeface="Malgun Gothic"/>
                <a:ea typeface="Malgun Gothic"/>
                <a:cs typeface="Malgun Gothic"/>
              </a:defRPr>
            </a:pPr>
            <a:r>
              <a:rPr sz="1875" b="0">
                <a:solidFill>
                  <a:srgbClr val="18191C"/>
                </a:solidFill>
                <a:latin typeface="Malgun Gothic"/>
                <a:ea typeface="Malgun Gothic"/>
                <a:cs typeface="Malgun Gothic"/>
              </a:rPr>
              <a:t>게임/서비스 카드 25개</a:t>
            </a:r>
          </a:p>
        </p:txBody>
      </p:sp>
    </p:spTree>
    <p:extLst>
      <p:ext uri="{BB962C8B-B14F-4D97-AF65-F5344CB8AC3E}">
        <p14:creationId xmlns:p14="http://schemas.microsoft.com/office/powerpoint/2010/main" val="500364526"/>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text-11">
            <a:extLst xmlns:a="http://schemas.openxmlformats.org/drawingml/2006/main">
              <a:ext uri="{FF2B5EF4-FFF2-40B4-BE49-F238E27FC236}">
                <a16:creationId xmlns:a16="http://schemas.microsoft.com/office/drawing/2014/main" id="{DACF7A6E-9D11-436A-809F-680FB36AA63B}"/>
              </a:ext>
            </a:extLst>
          </p:cNvPr>
          <p:cNvSpPr>
            <a:spLocks xmlns:a="http://schemas.openxmlformats.org/drawingml/2006/main" noGrp="1"/>
          </p:cNvSpPr>
          <p:nvPr/>
        </p:nvSpPr>
        <p:spPr>
          <a:xfrm xmlns:a="http://schemas.openxmlformats.org/drawingml/2006/main">
            <a:off x="609600" y="438150"/>
            <a:ext cx="109728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450" b="1">
                <a:solidFill>
                  <a:srgbClr val="18191C"/>
                </a:solidFill>
                <a:latin typeface="Malgun Gothic"/>
                <a:ea typeface="Malgun Gothic"/>
                <a:cs typeface="Malgun Gothic"/>
              </a:defRPr>
            </a:pPr>
            <a:r>
              <a:rPr sz="3450" b="1">
                <a:solidFill>
                  <a:srgbClr val="18191C"/>
                </a:solidFill>
                <a:latin typeface="Malgun Gothic"/>
                <a:ea typeface="Malgun Gothic"/>
                <a:cs typeface="Malgun Gothic"/>
              </a:rPr>
              <a:t>HTML 구조와 영역별 배치</a:t>
            </a:r>
          </a:p>
        </p:txBody>
      </p:sp>
      <p:sp>
        <p:nvSpPr>
          <p:cNvPr id="2" name="text-12">
            <a:extLst xmlns:a="http://schemas.openxmlformats.org/drawingml/2006/main">
              <a:ext uri="{FF2B5EF4-FFF2-40B4-BE49-F238E27FC236}">
                <a16:creationId xmlns:a16="http://schemas.microsoft.com/office/drawing/2014/main" id="{E16A30B7-840D-45C8-B062-55907712EF77}"/>
              </a:ext>
            </a:extLst>
          </p:cNvPr>
          <p:cNvSpPr>
            <a:spLocks xmlns:a="http://schemas.openxmlformats.org/drawingml/2006/main" noGrp="1"/>
          </p:cNvSpPr>
          <p:nvPr/>
        </p:nvSpPr>
        <p:spPr>
          <a:xfrm xmlns:a="http://schemas.openxmlformats.org/drawingml/2006/main">
            <a:off x="647700" y="1543050"/>
            <a:ext cx="4762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1">
                <a:solidFill>
                  <a:srgbClr val="005CC9"/>
                </a:solidFill>
                <a:latin typeface="Malgun Gothic"/>
                <a:ea typeface="Malgun Gothic"/>
                <a:cs typeface="Malgun Gothic"/>
              </a:defRPr>
            </a:pPr>
            <a:r>
              <a:rPr sz="2100" b="1">
                <a:solidFill>
                  <a:srgbClr val="005CC9"/>
                </a:solidFill>
                <a:latin typeface="Malgun Gothic"/>
                <a:ea typeface="Malgun Gothic"/>
                <a:cs typeface="Malgun Gothic"/>
              </a:rPr>
              <a:t>HTML 영역</a:t>
            </a:r>
          </a:p>
        </p:txBody>
      </p:sp>
      <p:sp>
        <p:nvSpPr>
          <p:cNvPr id="3" name="text-13">
            <a:extLst xmlns:a="http://schemas.openxmlformats.org/drawingml/2006/main">
              <a:ext uri="{FF2B5EF4-FFF2-40B4-BE49-F238E27FC236}">
                <a16:creationId xmlns:a16="http://schemas.microsoft.com/office/drawing/2014/main" id="{859CE5CA-1574-4E35-B3BE-51544DEDB68F}"/>
              </a:ext>
            </a:extLst>
          </p:cNvPr>
          <p:cNvSpPr>
            <a:spLocks xmlns:a="http://schemas.openxmlformats.org/drawingml/2006/main" noGrp="1"/>
          </p:cNvSpPr>
          <p:nvPr/>
        </p:nvSpPr>
        <p:spPr>
          <a:xfrm xmlns:a="http://schemas.openxmlformats.org/drawingml/2006/main">
            <a:off x="647700" y="2095500"/>
            <a:ext cx="4762500" cy="426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8191C"/>
                </a:solidFill>
                <a:latin typeface="Malgun Gothic"/>
                <a:ea typeface="Malgun Gothic"/>
                <a:cs typeface="Malgun Gothic"/>
              </a:defRPr>
            </a:pPr>
            <a:r>
              <a:rPr sz="2025" b="0">
                <a:solidFill>
                  <a:srgbClr val="18191C"/>
                </a:solidFill>
                <a:latin typeface="Malgun Gothic"/>
                <a:ea typeface="Malgun Gothic"/>
                <a:cs typeface="Malgun Gothic"/>
              </a:rPr>
              <a:t>header</a:t>
            </a:r>
          </a:p>
          <a:p xmlns:a="http://schemas.openxmlformats.org/drawingml/2006/main">
            <a:pPr>
              <a:defRPr sz="2025" b="0">
                <a:solidFill>
                  <a:srgbClr val="18191C"/>
                </a:solidFill>
                <a:latin typeface="Malgun Gothic"/>
                <a:ea typeface="Malgun Gothic"/>
                <a:cs typeface="Malgun Gothic"/>
              </a:defRPr>
            </a:pPr>
            <a:r>
              <a:rPr sz="2025" b="0">
                <a:solidFill>
                  <a:srgbClr val="18191C"/>
                </a:solidFill>
                <a:latin typeface="Malgun Gothic"/>
                <a:ea typeface="Malgun Gothic"/>
                <a:cs typeface="Malgun Gothic"/>
              </a:rPr>
              <a:t>  로고와 서비스 메뉴</a:t>
            </a:r>
          </a:p>
          <a:p xmlns:a="http://schemas.openxmlformats.org/drawingml/2006/main">
            <a:r>
              <a:t/>
            </a:r>
          </a:p>
          <a:p xmlns:a="http://schemas.openxmlformats.org/drawingml/2006/main">
            <a:pPr>
              <a:defRPr sz="2025" b="0">
                <a:solidFill>
                  <a:srgbClr val="18191C"/>
                </a:solidFill>
                <a:latin typeface="Malgun Gothic"/>
                <a:ea typeface="Malgun Gothic"/>
                <a:cs typeface="Malgun Gothic"/>
              </a:defRPr>
            </a:pPr>
            <a:r>
              <a:rPr sz="2025" b="0">
                <a:solidFill>
                  <a:srgbClr val="18191C"/>
                </a:solidFill>
                <a:latin typeface="Malgun Gothic"/>
                <a:ea typeface="Malgun Gothic"/>
                <a:cs typeface="Malgun Gothic"/>
              </a:rPr>
              <a:t>aside</a:t>
            </a:r>
          </a:p>
          <a:p xmlns:a="http://schemas.openxmlformats.org/drawingml/2006/main">
            <a:pPr>
              <a:defRPr sz="2025" b="0">
                <a:solidFill>
                  <a:srgbClr val="18191C"/>
                </a:solidFill>
                <a:latin typeface="Malgun Gothic"/>
                <a:ea typeface="Malgun Gothic"/>
                <a:cs typeface="Malgun Gothic"/>
              </a:defRPr>
            </a:pPr>
            <a:r>
              <a:rPr sz="2025" b="0">
                <a:solidFill>
                  <a:srgbClr val="18191C"/>
                </a:solidFill>
                <a:latin typeface="Malgun Gothic"/>
                <a:ea typeface="Malgun Gothic"/>
                <a:cs typeface="Malgun Gothic"/>
              </a:rPr>
              <a:t>  고객센터 메뉴</a:t>
            </a:r>
          </a:p>
          <a:p xmlns:a="http://schemas.openxmlformats.org/drawingml/2006/main">
            <a:r>
              <a:t/>
            </a:r>
          </a:p>
          <a:p xmlns:a="http://schemas.openxmlformats.org/drawingml/2006/main">
            <a:pPr>
              <a:defRPr sz="2025" b="0">
                <a:solidFill>
                  <a:srgbClr val="18191C"/>
                </a:solidFill>
                <a:latin typeface="Malgun Gothic"/>
                <a:ea typeface="Malgun Gothic"/>
                <a:cs typeface="Malgun Gothic"/>
              </a:defRPr>
            </a:pPr>
            <a:r>
              <a:rPr sz="2025" b="0">
                <a:solidFill>
                  <a:srgbClr val="18191C"/>
                </a:solidFill>
                <a:latin typeface="Malgun Gothic"/>
                <a:ea typeface="Malgun Gothic"/>
                <a:cs typeface="Malgun Gothic"/>
              </a:rPr>
              <a:t>main</a:t>
            </a:r>
          </a:p>
          <a:p xmlns:a="http://schemas.openxmlformats.org/drawingml/2006/main">
            <a:pPr>
              <a:defRPr sz="2025" b="0">
                <a:solidFill>
                  <a:srgbClr val="18191C"/>
                </a:solidFill>
                <a:latin typeface="Malgun Gothic"/>
                <a:ea typeface="Malgun Gothic"/>
                <a:cs typeface="Malgun Gothic"/>
              </a:defRPr>
            </a:pPr>
            <a:r>
              <a:rPr sz="2025" b="0">
                <a:solidFill>
                  <a:srgbClr val="18191C"/>
                </a:solidFill>
                <a:latin typeface="Malgun Gothic"/>
                <a:ea typeface="Malgun Gothic"/>
                <a:cs typeface="Malgun Gothic"/>
              </a:rPr>
              <a:t>  로그인 안내와 게임 목록</a:t>
            </a:r>
          </a:p>
          <a:p xmlns:a="http://schemas.openxmlformats.org/drawingml/2006/main">
            <a:r>
              <a:t/>
            </a:r>
          </a:p>
          <a:p xmlns:a="http://schemas.openxmlformats.org/drawingml/2006/main">
            <a:pPr>
              <a:defRPr sz="2025" b="0">
                <a:solidFill>
                  <a:srgbClr val="18191C"/>
                </a:solidFill>
                <a:latin typeface="Malgun Gothic"/>
                <a:ea typeface="Malgun Gothic"/>
                <a:cs typeface="Malgun Gothic"/>
              </a:defRPr>
            </a:pPr>
            <a:r>
              <a:rPr sz="2025" b="0">
                <a:solidFill>
                  <a:srgbClr val="18191C"/>
                </a:solidFill>
                <a:latin typeface="Malgun Gothic"/>
                <a:ea typeface="Malgun Gothic"/>
                <a:cs typeface="Malgun Gothic"/>
              </a:rPr>
              <a:t>footer</a:t>
            </a:r>
          </a:p>
          <a:p xmlns:a="http://schemas.openxmlformats.org/drawingml/2006/main">
            <a:pPr>
              <a:defRPr sz="2025" b="0">
                <a:solidFill>
                  <a:srgbClr val="18191C"/>
                </a:solidFill>
                <a:latin typeface="Malgun Gothic"/>
                <a:ea typeface="Malgun Gothic"/>
                <a:cs typeface="Malgun Gothic"/>
              </a:defRPr>
            </a:pPr>
            <a:r>
              <a:rPr sz="2025" b="0">
                <a:solidFill>
                  <a:srgbClr val="18191C"/>
                </a:solidFill>
                <a:latin typeface="Malgun Gothic"/>
                <a:ea typeface="Malgun Gothic"/>
                <a:cs typeface="Malgun Gothic"/>
              </a:rPr>
              <a:t>  저작권 안내</a:t>
            </a:r>
          </a:p>
        </p:txBody>
      </p:sp>
      <p:sp>
        <p:nvSpPr>
          <p:cNvPr id="4" name="text-14">
            <a:extLst xmlns:a="http://schemas.openxmlformats.org/drawingml/2006/main">
              <a:ext uri="{FF2B5EF4-FFF2-40B4-BE49-F238E27FC236}">
                <a16:creationId xmlns:a16="http://schemas.microsoft.com/office/drawing/2014/main" id="{0353E3F3-D1DD-45F6-B641-BDB49A09548F}"/>
              </a:ext>
            </a:extLst>
          </p:cNvPr>
          <p:cNvSpPr>
            <a:spLocks xmlns:a="http://schemas.openxmlformats.org/drawingml/2006/main" noGrp="1"/>
          </p:cNvSpPr>
          <p:nvPr/>
        </p:nvSpPr>
        <p:spPr>
          <a:xfrm xmlns:a="http://schemas.openxmlformats.org/drawingml/2006/main">
            <a:off x="6362700" y="1543050"/>
            <a:ext cx="4953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1">
                <a:solidFill>
                  <a:srgbClr val="005CC9"/>
                </a:solidFill>
                <a:latin typeface="Malgun Gothic"/>
                <a:ea typeface="Malgun Gothic"/>
                <a:cs typeface="Malgun Gothic"/>
              </a:defRPr>
            </a:pPr>
            <a:r>
              <a:rPr sz="2100" b="1">
                <a:solidFill>
                  <a:srgbClr val="005CC9"/>
                </a:solidFill>
                <a:latin typeface="Malgun Gothic"/>
                <a:ea typeface="Malgun Gothic"/>
                <a:cs typeface="Malgun Gothic"/>
              </a:rPr>
              <a:t>CSS 배치 기준</a:t>
            </a:r>
          </a:p>
        </p:txBody>
      </p:sp>
      <p:sp>
        <p:nvSpPr>
          <p:cNvPr id="5" name="text-15">
            <a:extLst xmlns:a="http://schemas.openxmlformats.org/drawingml/2006/main">
              <a:ext uri="{FF2B5EF4-FFF2-40B4-BE49-F238E27FC236}">
                <a16:creationId xmlns:a16="http://schemas.microsoft.com/office/drawing/2014/main" id="{2E5F3E72-31BC-48CD-AB38-949882B604E9}"/>
              </a:ext>
            </a:extLst>
          </p:cNvPr>
          <p:cNvSpPr>
            <a:spLocks xmlns:a="http://schemas.openxmlformats.org/drawingml/2006/main" noGrp="1"/>
          </p:cNvSpPr>
          <p:nvPr/>
        </p:nvSpPr>
        <p:spPr>
          <a:xfrm xmlns:a="http://schemas.openxmlformats.org/drawingml/2006/main">
            <a:off x="6362700" y="2171700"/>
            <a:ext cx="4953000" cy="1466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18191C"/>
                </a:solidFill>
                <a:latin typeface="Malgun Gothic"/>
                <a:ea typeface="Malgun Gothic"/>
                <a:cs typeface="Malgun Gothic"/>
              </a:defRPr>
            </a:pPr>
            <a:r>
              <a:rPr sz="2175" b="0">
                <a:solidFill>
                  <a:srgbClr val="18191C"/>
                </a:solidFill>
                <a:latin typeface="Malgun Gothic"/>
                <a:ea typeface="Malgun Gothic"/>
                <a:cs typeface="Malgun Gothic"/>
              </a:rPr>
              <a:t>본문은 Flex로 좌우 분리</a:t>
            </a:r>
          </a:p>
          <a:p xmlns:a="http://schemas.openxmlformats.org/drawingml/2006/main">
            <a:pPr>
              <a:defRPr sz="2175" b="0">
                <a:solidFill>
                  <a:srgbClr val="18191C"/>
                </a:solidFill>
                <a:latin typeface="Malgun Gothic"/>
                <a:ea typeface="Malgun Gothic"/>
                <a:cs typeface="Malgun Gothic"/>
              </a:defRPr>
            </a:pPr>
            <a:r>
              <a:rPr sz="2175" b="0">
                <a:solidFill>
                  <a:srgbClr val="18191C"/>
                </a:solidFill>
                <a:latin typeface="Malgun Gothic"/>
                <a:ea typeface="Malgun Gothic"/>
                <a:cs typeface="Malgun Gothic"/>
              </a:rPr>
              <a:t>왼쪽 메뉴는 80px 고정</a:t>
            </a:r>
          </a:p>
          <a:p xmlns:a="http://schemas.openxmlformats.org/drawingml/2006/main">
            <a:pPr>
              <a:defRPr sz="2175" b="0">
                <a:solidFill>
                  <a:srgbClr val="18191C"/>
                </a:solidFill>
                <a:latin typeface="Malgun Gothic"/>
                <a:ea typeface="Malgun Gothic"/>
                <a:cs typeface="Malgun Gothic"/>
              </a:defRPr>
            </a:pPr>
            <a:r>
              <a:rPr sz="2175" b="0">
                <a:solidFill>
                  <a:srgbClr val="18191C"/>
                </a:solidFill>
                <a:latin typeface="Malgun Gothic"/>
                <a:ea typeface="Malgun Gothic"/>
                <a:cs typeface="Malgun Gothic"/>
              </a:rPr>
              <a:t>콘텐츠는 남은 너비 사용</a:t>
            </a:r>
          </a:p>
        </p:txBody>
      </p:sp>
      <p:sp>
        <p:nvSpPr>
          <p:cNvPr id="6" name="text-16">
            <a:extLst xmlns:a="http://schemas.openxmlformats.org/drawingml/2006/main">
              <a:ext uri="{FF2B5EF4-FFF2-40B4-BE49-F238E27FC236}">
                <a16:creationId xmlns:a16="http://schemas.microsoft.com/office/drawing/2014/main" id="{408FFF92-4E9E-4C5A-A3C7-AD9E016A2C03}"/>
              </a:ext>
            </a:extLst>
          </p:cNvPr>
          <p:cNvSpPr>
            <a:spLocks xmlns:a="http://schemas.openxmlformats.org/drawingml/2006/main" noGrp="1"/>
          </p:cNvSpPr>
          <p:nvPr/>
        </p:nvSpPr>
        <p:spPr>
          <a:xfrm xmlns:a="http://schemas.openxmlformats.org/drawingml/2006/main">
            <a:off x="6362700" y="4000500"/>
            <a:ext cx="4953000" cy="1981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555D6B"/>
                </a:solidFill>
                <a:latin typeface="Malgun Gothic"/>
                <a:ea typeface="Malgun Gothic"/>
                <a:cs typeface="Malgun Gothic"/>
              </a:defRPr>
            </a:pPr>
            <a:r>
              <a:rPr sz="1950" b="0">
                <a:solidFill>
                  <a:srgbClr val="555D6B"/>
                </a:solidFill>
                <a:latin typeface="Malgun Gothic"/>
                <a:ea typeface="Malgun Gothic"/>
                <a:cs typeface="Malgun Gothic"/>
              </a:rPr>
              <a:t>.sidebar { flex: 0 0 80px; }</a:t>
            </a:r>
          </a:p>
          <a:p xmlns:a="http://schemas.openxmlformats.org/drawingml/2006/main">
            <a:pPr>
              <a:defRPr sz="1950" b="0">
                <a:solidFill>
                  <a:srgbClr val="555D6B"/>
                </a:solidFill>
                <a:latin typeface="Malgun Gothic"/>
                <a:ea typeface="Malgun Gothic"/>
                <a:cs typeface="Malgun Gothic"/>
              </a:defRPr>
            </a:pPr>
            <a:r>
              <a:rPr sz="1950" b="0">
                <a:solidFill>
                  <a:srgbClr val="555D6B"/>
                </a:solidFill>
                <a:latin typeface="Malgun Gothic"/>
                <a:ea typeface="Malgun Gothic"/>
                <a:cs typeface="Malgun Gothic"/>
              </a:rPr>
              <a:t>.service-content {</a:t>
            </a:r>
          </a:p>
          <a:p xmlns:a="http://schemas.openxmlformats.org/drawingml/2006/main">
            <a:pPr>
              <a:defRPr sz="1950" b="0">
                <a:solidFill>
                  <a:srgbClr val="555D6B"/>
                </a:solidFill>
                <a:latin typeface="Malgun Gothic"/>
                <a:ea typeface="Malgun Gothic"/>
                <a:cs typeface="Malgun Gothic"/>
              </a:defRPr>
            </a:pPr>
            <a:r>
              <a:rPr sz="1950" b="0">
                <a:solidFill>
                  <a:srgbClr val="555D6B"/>
                </a:solidFill>
                <a:latin typeface="Malgun Gothic"/>
                <a:ea typeface="Malgun Gothic"/>
                <a:cs typeface="Malgun Gothic"/>
              </a:rPr>
              <a:t>  flex: 1;</a:t>
            </a:r>
          </a:p>
          <a:p xmlns:a="http://schemas.openxmlformats.org/drawingml/2006/main">
            <a:pPr>
              <a:defRPr sz="1950" b="0">
                <a:solidFill>
                  <a:srgbClr val="555D6B"/>
                </a:solidFill>
                <a:latin typeface="Malgun Gothic"/>
                <a:ea typeface="Malgun Gothic"/>
                <a:cs typeface="Malgun Gothic"/>
              </a:defRPr>
            </a:pPr>
            <a:r>
              <a:rPr sz="1950" b="0">
                <a:solidFill>
                  <a:srgbClr val="555D6B"/>
                </a:solidFill>
                <a:latin typeface="Malgun Gothic"/>
                <a:ea typeface="Malgun Gothic"/>
                <a:cs typeface="Malgun Gothic"/>
              </a:rPr>
              <a:t>  min-width: 0;</a:t>
            </a:r>
          </a:p>
          <a:p xmlns:a="http://schemas.openxmlformats.org/drawingml/2006/main">
            <a:pPr>
              <a:defRPr sz="1950" b="0">
                <a:solidFill>
                  <a:srgbClr val="555D6B"/>
                </a:solidFill>
                <a:latin typeface="Malgun Gothic"/>
                <a:ea typeface="Malgun Gothic"/>
                <a:cs typeface="Malgun Gothic"/>
              </a:defRPr>
            </a:pPr>
            <a:r>
              <a:rPr sz="1950" b="0">
                <a:solidFill>
                  <a:srgbClr val="555D6B"/>
                </a:solidFill>
                <a:latin typeface="Malgun Gothic"/>
                <a:ea typeface="Malgun Gothic"/>
                <a:cs typeface="Malgun Gothic"/>
              </a:rPr>
              <a:t>}</a:t>
            </a:r>
          </a:p>
        </p:txBody>
      </p:sp>
    </p:spTree>
    <p:extLst>
      <p:ext uri="{BB962C8B-B14F-4D97-AF65-F5344CB8AC3E}">
        <p14:creationId xmlns:p14="http://schemas.microsoft.com/office/powerpoint/2010/main" val="49581199"/>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text-17">
            <a:extLst xmlns:a="http://schemas.openxmlformats.org/drawingml/2006/main">
              <a:ext uri="{FF2B5EF4-FFF2-40B4-BE49-F238E27FC236}">
                <a16:creationId xmlns:a16="http://schemas.microsoft.com/office/drawing/2014/main" id="{D86B8870-12FA-49EC-B577-F5B00628E61B}"/>
              </a:ext>
            </a:extLst>
          </p:cNvPr>
          <p:cNvSpPr>
            <a:spLocks xmlns:a="http://schemas.openxmlformats.org/drawingml/2006/main" noGrp="1"/>
          </p:cNvSpPr>
          <p:nvPr/>
        </p:nvSpPr>
        <p:spPr>
          <a:xfrm xmlns:a="http://schemas.openxmlformats.org/drawingml/2006/main">
            <a:off x="609600" y="438150"/>
            <a:ext cx="109728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450" b="1">
                <a:solidFill>
                  <a:srgbClr val="18191C"/>
                </a:solidFill>
                <a:latin typeface="Malgun Gothic"/>
                <a:ea typeface="Malgun Gothic"/>
                <a:cs typeface="Malgun Gothic"/>
              </a:defRPr>
            </a:pPr>
            <a:r>
              <a:rPr sz="3450" b="1">
                <a:solidFill>
                  <a:srgbClr val="18191C"/>
                </a:solidFill>
                <a:latin typeface="Malgun Gothic"/>
                <a:ea typeface="Malgun Gothic"/>
                <a:cs typeface="Malgun Gothic"/>
              </a:rPr>
              <a:t>게임 카드의 크기와 줄바꿈</a:t>
            </a:r>
          </a:p>
        </p:txBody>
      </p:sp>
      <p:pic>
        <p:nvPicPr>
          <p:cNvPr id="8" name=""/>
          <p:cNvPicPr>
            <a:picLocks xmlns:a="http://schemas.openxmlformats.org/drawingml/2006/main" noChangeAspect="1"/>
          </p:cNvPicPr>
          <p:nvPr/>
        </p:nvPicPr>
        <p:blipFill>
          <a:blip xmlns:r="http://schemas.openxmlformats.org/officeDocument/2006/relationships" xmlns:a="http://schemas.openxmlformats.org/drawingml/2006/main" r:embed="Rd0acc8d774764b12"/>
          <a:stretch xmlns:a="http://schemas.openxmlformats.org/drawingml/2006/main"/>
        </p:blipFill>
        <p:spPr>
          <a:xfrm xmlns:a="http://schemas.openxmlformats.org/drawingml/2006/main">
            <a:off x="609600" y="1489797"/>
            <a:ext cx="7000875" cy="3097357"/>
          </a:xfrm>
          <a:prstGeom xmlns:a="http://schemas.openxmlformats.org/drawingml/2006/main" prst="rect">
            <a:avLst/>
          </a:prstGeom>
        </p:spPr>
      </p:pic>
      <p:sp>
        <p:nvSpPr>
          <p:cNvPr id="3" name="text-18">
            <a:extLst xmlns:a="http://schemas.openxmlformats.org/drawingml/2006/main">
              <a:ext uri="{FF2B5EF4-FFF2-40B4-BE49-F238E27FC236}">
                <a16:creationId xmlns:a16="http://schemas.microsoft.com/office/drawing/2014/main" id="{DAA7CFFE-47EA-4C36-8E63-75A731EC48B2}"/>
              </a:ext>
            </a:extLst>
          </p:cNvPr>
          <p:cNvSpPr>
            <a:spLocks xmlns:a="http://schemas.openxmlformats.org/drawingml/2006/main" noGrp="1"/>
          </p:cNvSpPr>
          <p:nvPr/>
        </p:nvSpPr>
        <p:spPr>
          <a:xfrm xmlns:a="http://schemas.openxmlformats.org/drawingml/2006/main">
            <a:off x="8115300" y="1543050"/>
            <a:ext cx="34290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005CC9"/>
                </a:solidFill>
                <a:latin typeface="Malgun Gothic"/>
                <a:ea typeface="Malgun Gothic"/>
                <a:cs typeface="Malgun Gothic"/>
              </a:defRPr>
            </a:pPr>
            <a:r>
              <a:rPr sz="2250" b="1">
                <a:solidFill>
                  <a:srgbClr val="005CC9"/>
                </a:solidFill>
                <a:latin typeface="Malgun Gothic"/>
                <a:ea typeface="Malgun Gothic"/>
                <a:cs typeface="Malgun Gothic"/>
              </a:rPr>
              <a:t>카드 너비 138px</a:t>
            </a:r>
          </a:p>
        </p:txBody>
      </p:sp>
      <p:sp>
        <p:nvSpPr>
          <p:cNvPr id="4" name="text-19">
            <a:extLst xmlns:a="http://schemas.openxmlformats.org/drawingml/2006/main">
              <a:ext uri="{FF2B5EF4-FFF2-40B4-BE49-F238E27FC236}">
                <a16:creationId xmlns:a16="http://schemas.microsoft.com/office/drawing/2014/main" id="{A4C1A3CF-FCDE-469C-A103-04BAA9F49B23}"/>
              </a:ext>
            </a:extLst>
          </p:cNvPr>
          <p:cNvSpPr>
            <a:spLocks xmlns:a="http://schemas.openxmlformats.org/drawingml/2006/main" noGrp="1"/>
          </p:cNvSpPr>
          <p:nvPr/>
        </p:nvSpPr>
        <p:spPr>
          <a:xfrm xmlns:a="http://schemas.openxmlformats.org/drawingml/2006/main">
            <a:off x="8115300" y="2209800"/>
            <a:ext cx="34290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8191C"/>
                </a:solidFill>
                <a:latin typeface="Malgun Gothic"/>
                <a:ea typeface="Malgun Gothic"/>
                <a:cs typeface="Malgun Gothic"/>
              </a:defRPr>
            </a:pPr>
            <a:r>
              <a:rPr sz="2025" b="0">
                <a:solidFill>
                  <a:srgbClr val="18191C"/>
                </a:solidFill>
                <a:latin typeface="Malgun Gothic"/>
                <a:ea typeface="Malgun Gothic"/>
                <a:cs typeface="Malgun Gothic"/>
              </a:rPr>
              <a:t>이미지는 136 × 136px</a:t>
            </a:r>
          </a:p>
          <a:p xmlns:a="http://schemas.openxmlformats.org/drawingml/2006/main">
            <a:pPr>
              <a:defRPr sz="2025" b="0">
                <a:solidFill>
                  <a:srgbClr val="18191C"/>
                </a:solidFill>
                <a:latin typeface="Malgun Gothic"/>
                <a:ea typeface="Malgun Gothic"/>
                <a:cs typeface="Malgun Gothic"/>
              </a:defRPr>
            </a:pPr>
            <a:r>
              <a:rPr sz="2025" b="0">
                <a:solidFill>
                  <a:srgbClr val="18191C"/>
                </a:solidFill>
                <a:latin typeface="Malgun Gothic"/>
                <a:ea typeface="Malgun Gothic"/>
                <a:cs typeface="Malgun Gothic"/>
              </a:rPr>
              <a:t>이름 영역은 높이 50px</a:t>
            </a:r>
          </a:p>
        </p:txBody>
      </p:sp>
      <p:sp>
        <p:nvSpPr>
          <p:cNvPr id="5" name="text-20">
            <a:extLst xmlns:a="http://schemas.openxmlformats.org/drawingml/2006/main">
              <a:ext uri="{FF2B5EF4-FFF2-40B4-BE49-F238E27FC236}">
                <a16:creationId xmlns:a16="http://schemas.microsoft.com/office/drawing/2014/main" id="{1FBC6A85-A2C7-478E-942D-D53E7B05A45D}"/>
              </a:ext>
            </a:extLst>
          </p:cNvPr>
          <p:cNvSpPr>
            <a:spLocks xmlns:a="http://schemas.openxmlformats.org/drawingml/2006/main" noGrp="1"/>
          </p:cNvSpPr>
          <p:nvPr/>
        </p:nvSpPr>
        <p:spPr>
          <a:xfrm xmlns:a="http://schemas.openxmlformats.org/drawingml/2006/main">
            <a:off x="8115300" y="3619500"/>
            <a:ext cx="34290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8191C"/>
                </a:solidFill>
                <a:latin typeface="Malgun Gothic"/>
                <a:ea typeface="Malgun Gothic"/>
                <a:cs typeface="Malgun Gothic"/>
              </a:defRPr>
            </a:pPr>
            <a:r>
              <a:rPr sz="2025" b="0">
                <a:solidFill>
                  <a:srgbClr val="18191C"/>
                </a:solidFill>
                <a:latin typeface="Malgun Gothic"/>
                <a:ea typeface="Malgun Gothic"/>
                <a:cs typeface="Malgun Gothic"/>
              </a:rPr>
              <a:t>가로 간격 32px</a:t>
            </a:r>
          </a:p>
          <a:p xmlns:a="http://schemas.openxmlformats.org/drawingml/2006/main">
            <a:pPr>
              <a:defRPr sz="2025" b="0">
                <a:solidFill>
                  <a:srgbClr val="18191C"/>
                </a:solidFill>
                <a:latin typeface="Malgun Gothic"/>
                <a:ea typeface="Malgun Gothic"/>
                <a:cs typeface="Malgun Gothic"/>
              </a:defRPr>
            </a:pPr>
            <a:r>
              <a:rPr sz="2025" b="0">
                <a:solidFill>
                  <a:srgbClr val="18191C"/>
                </a:solidFill>
                <a:latin typeface="Malgun Gothic"/>
                <a:ea typeface="Malgun Gothic"/>
                <a:cs typeface="Malgun Gothic"/>
              </a:rPr>
              <a:t>세로 간격 62px</a:t>
            </a:r>
          </a:p>
        </p:txBody>
      </p:sp>
      <p:sp>
        <p:nvSpPr>
          <p:cNvPr id="6" name="text-21">
            <a:extLst xmlns:a="http://schemas.openxmlformats.org/drawingml/2006/main">
              <a:ext uri="{FF2B5EF4-FFF2-40B4-BE49-F238E27FC236}">
                <a16:creationId xmlns:a16="http://schemas.microsoft.com/office/drawing/2014/main" id="{D26510C7-96B4-47C0-A83B-189212A9D24B}"/>
              </a:ext>
            </a:extLst>
          </p:cNvPr>
          <p:cNvSpPr>
            <a:spLocks xmlns:a="http://schemas.openxmlformats.org/drawingml/2006/main" noGrp="1"/>
          </p:cNvSpPr>
          <p:nvPr/>
        </p:nvSpPr>
        <p:spPr>
          <a:xfrm xmlns:a="http://schemas.openxmlformats.org/drawingml/2006/main">
            <a:off x="609600" y="4933950"/>
            <a:ext cx="10810875" cy="1409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555D6B"/>
                </a:solidFill>
                <a:latin typeface="Malgun Gothic"/>
                <a:ea typeface="Malgun Gothic"/>
                <a:cs typeface="Malgun Gothic"/>
              </a:defRPr>
            </a:pPr>
            <a:r>
              <a:rPr sz="2025" b="0">
                <a:solidFill>
                  <a:srgbClr val="555D6B"/>
                </a:solidFill>
                <a:latin typeface="Malgun Gothic"/>
                <a:ea typeface="Malgun Gothic"/>
                <a:cs typeface="Malgun Gothic"/>
              </a:rPr>
              <a:t>.game-list {</a:t>
            </a:r>
          </a:p>
          <a:p xmlns:a="http://schemas.openxmlformats.org/drawingml/2006/main">
            <a:pPr>
              <a:defRPr sz="2025" b="0">
                <a:solidFill>
                  <a:srgbClr val="555D6B"/>
                </a:solidFill>
                <a:latin typeface="Malgun Gothic"/>
                <a:ea typeface="Malgun Gothic"/>
                <a:cs typeface="Malgun Gothic"/>
              </a:defRPr>
            </a:pPr>
            <a:r>
              <a:rPr sz="2025" b="0">
                <a:solidFill>
                  <a:srgbClr val="555D6B"/>
                </a:solidFill>
                <a:latin typeface="Malgun Gothic"/>
                <a:ea typeface="Malgun Gothic"/>
                <a:cs typeface="Malgun Gothic"/>
              </a:rPr>
              <a:t>  display: flex;  flex-wrap: wrap;</a:t>
            </a:r>
          </a:p>
          <a:p xmlns:a="http://schemas.openxmlformats.org/drawingml/2006/main">
            <a:pPr>
              <a:defRPr sz="2025" b="0">
                <a:solidFill>
                  <a:srgbClr val="555D6B"/>
                </a:solidFill>
                <a:latin typeface="Malgun Gothic"/>
                <a:ea typeface="Malgun Gothic"/>
                <a:cs typeface="Malgun Gothic"/>
              </a:defRPr>
            </a:pPr>
            <a:r>
              <a:rPr sz="2025" b="0">
                <a:solidFill>
                  <a:srgbClr val="555D6B"/>
                </a:solidFill>
                <a:latin typeface="Malgun Gothic"/>
                <a:ea typeface="Malgun Gothic"/>
                <a:cs typeface="Malgun Gothic"/>
              </a:rPr>
              <a:t>  gap: 62px 32px;</a:t>
            </a:r>
          </a:p>
          <a:p xmlns:a="http://schemas.openxmlformats.org/drawingml/2006/main">
            <a:pPr>
              <a:defRPr sz="2025" b="0">
                <a:solidFill>
                  <a:srgbClr val="555D6B"/>
                </a:solidFill>
                <a:latin typeface="Malgun Gothic"/>
                <a:ea typeface="Malgun Gothic"/>
                <a:cs typeface="Malgun Gothic"/>
              </a:defRPr>
            </a:pPr>
            <a:r>
              <a:rPr sz="2025" b="0">
                <a:solidFill>
                  <a:srgbClr val="555D6B"/>
                </a:solidFill>
                <a:latin typeface="Malgun Gothic"/>
                <a:ea typeface="Malgun Gothic"/>
                <a:cs typeface="Malgun Gothic"/>
              </a:rPr>
              <a:t>}</a:t>
            </a:r>
          </a:p>
        </p:txBody>
      </p:sp>
    </p:spTree>
    <p:extLst>
      <p:ext uri="{BB962C8B-B14F-4D97-AF65-F5344CB8AC3E}">
        <p14:creationId xmlns:p14="http://schemas.microsoft.com/office/powerpoint/2010/main" val="206677030"/>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text-22">
            <a:extLst xmlns:a="http://schemas.openxmlformats.org/drawingml/2006/main">
              <a:ext uri="{FF2B5EF4-FFF2-40B4-BE49-F238E27FC236}">
                <a16:creationId xmlns:a16="http://schemas.microsoft.com/office/drawing/2014/main" id="{D3B2E35A-C9E7-4A52-AE38-1F6E044C173E}"/>
              </a:ext>
            </a:extLst>
          </p:cNvPr>
          <p:cNvSpPr>
            <a:spLocks xmlns:a="http://schemas.openxmlformats.org/drawingml/2006/main" noGrp="1"/>
          </p:cNvSpPr>
          <p:nvPr/>
        </p:nvSpPr>
        <p:spPr>
          <a:xfrm xmlns:a="http://schemas.openxmlformats.org/drawingml/2006/main">
            <a:off x="609600" y="438150"/>
            <a:ext cx="109728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450" b="1">
                <a:solidFill>
                  <a:srgbClr val="18191C"/>
                </a:solidFill>
                <a:latin typeface="Malgun Gothic"/>
                <a:ea typeface="Malgun Gothic"/>
                <a:cs typeface="Malgun Gothic"/>
              </a:defRPr>
            </a:pPr>
            <a:r>
              <a:rPr sz="3450" b="1">
                <a:solidFill>
                  <a:srgbClr val="18191C"/>
                </a:solidFill>
                <a:latin typeface="Malgun Gothic"/>
                <a:ea typeface="Malgun Gothic"/>
                <a:cs typeface="Malgun Gothic"/>
              </a:rPr>
              <a:t>스크롤을 따라가는 왼쪽 메뉴</a:t>
            </a:r>
          </a:p>
        </p:txBody>
      </p:sp>
      <p:pic>
        <p:nvPicPr>
          <p:cNvPr id="7" name=""/>
          <p:cNvPicPr>
            <a:picLocks xmlns:a="http://schemas.openxmlformats.org/drawingml/2006/main" noChangeAspect="1"/>
          </p:cNvPicPr>
          <p:nvPr/>
        </p:nvPicPr>
        <p:blipFill>
          <a:blip xmlns:r="http://schemas.openxmlformats.org/officeDocument/2006/relationships" xmlns:a="http://schemas.openxmlformats.org/drawingml/2006/main" r:embed="R43b6ee100f694b17"/>
          <a:stretch xmlns:a="http://schemas.openxmlformats.org/drawingml/2006/main"/>
        </p:blipFill>
        <p:spPr>
          <a:xfrm xmlns:a="http://schemas.openxmlformats.org/drawingml/2006/main">
            <a:off x="515112" y="1438275"/>
            <a:ext cx="7351776" cy="5105400"/>
          </a:xfrm>
          <a:prstGeom xmlns:a="http://schemas.openxmlformats.org/drawingml/2006/main" prst="rect">
            <a:avLst/>
          </a:prstGeom>
        </p:spPr>
      </p:pic>
      <p:sp>
        <p:nvSpPr>
          <p:cNvPr id="3" name="text-23">
            <a:extLst xmlns:a="http://schemas.openxmlformats.org/drawingml/2006/main">
              <a:ext uri="{FF2B5EF4-FFF2-40B4-BE49-F238E27FC236}">
                <a16:creationId xmlns:a16="http://schemas.microsoft.com/office/drawing/2014/main" id="{8FD47462-9B16-4380-9916-4053DE772BA6}"/>
              </a:ext>
            </a:extLst>
          </p:cNvPr>
          <p:cNvSpPr>
            <a:spLocks xmlns:a="http://schemas.openxmlformats.org/drawingml/2006/main" noGrp="1"/>
          </p:cNvSpPr>
          <p:nvPr/>
        </p:nvSpPr>
        <p:spPr>
          <a:xfrm xmlns:a="http://schemas.openxmlformats.org/drawingml/2006/main">
            <a:off x="8258175" y="1590675"/>
            <a:ext cx="3333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1">
                <a:solidFill>
                  <a:srgbClr val="005CC9"/>
                </a:solidFill>
                <a:latin typeface="Malgun Gothic"/>
                <a:ea typeface="Malgun Gothic"/>
                <a:cs typeface="Malgun Gothic"/>
              </a:defRPr>
            </a:pPr>
            <a:r>
              <a:rPr sz="2175" b="1">
                <a:solidFill>
                  <a:srgbClr val="005CC9"/>
                </a:solidFill>
                <a:latin typeface="Malgun Gothic"/>
                <a:ea typeface="Malgun Gothic"/>
                <a:cs typeface="Malgun Gothic"/>
              </a:rPr>
              <a:t>배경과 메뉴의 역할 분리</a:t>
            </a:r>
          </a:p>
        </p:txBody>
      </p:sp>
      <p:sp>
        <p:nvSpPr>
          <p:cNvPr id="4" name="text-24">
            <a:extLst xmlns:a="http://schemas.openxmlformats.org/drawingml/2006/main">
              <a:ext uri="{FF2B5EF4-FFF2-40B4-BE49-F238E27FC236}">
                <a16:creationId xmlns:a16="http://schemas.microsoft.com/office/drawing/2014/main" id="{75D2EAD2-1E41-4146-8400-AA3E321A1190}"/>
              </a:ext>
            </a:extLst>
          </p:cNvPr>
          <p:cNvSpPr>
            <a:spLocks xmlns:a="http://schemas.openxmlformats.org/drawingml/2006/main" noGrp="1"/>
          </p:cNvSpPr>
          <p:nvPr/>
        </p:nvSpPr>
        <p:spPr>
          <a:xfrm xmlns:a="http://schemas.openxmlformats.org/drawingml/2006/main">
            <a:off x="8258175" y="2705100"/>
            <a:ext cx="333375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8191C"/>
                </a:solidFill>
                <a:latin typeface="Malgun Gothic"/>
                <a:ea typeface="Malgun Gothic"/>
                <a:cs typeface="Malgun Gothic"/>
              </a:defRPr>
            </a:pPr>
            <a:r>
              <a:rPr sz="1950" b="0">
                <a:solidFill>
                  <a:srgbClr val="18191C"/>
                </a:solidFill>
                <a:latin typeface="Malgun Gothic"/>
                <a:ea typeface="Malgun Gothic"/>
                <a:cs typeface="Malgun Gothic"/>
              </a:rPr>
              <a:t>aside는 본문 높이를 채우고</a:t>
            </a:r>
          </a:p>
          <a:p xmlns:a="http://schemas.openxmlformats.org/drawingml/2006/main">
            <a:pPr>
              <a:defRPr sz="1950" b="0">
                <a:solidFill>
                  <a:srgbClr val="18191C"/>
                </a:solidFill>
                <a:latin typeface="Malgun Gothic"/>
                <a:ea typeface="Malgun Gothic"/>
                <a:cs typeface="Malgun Gothic"/>
              </a:defRPr>
            </a:pPr>
            <a:r>
              <a:rPr sz="1950" b="0">
                <a:solidFill>
                  <a:srgbClr val="18191C"/>
                </a:solidFill>
                <a:latin typeface="Malgun Gothic"/>
                <a:ea typeface="Malgun Gothic"/>
                <a:cs typeface="Malgun Gothic"/>
              </a:rPr>
              <a:t>안쪽 nav만 위쪽에 고정</a:t>
            </a:r>
          </a:p>
        </p:txBody>
      </p:sp>
      <p:sp>
        <p:nvSpPr>
          <p:cNvPr id="5" name="text-25">
            <a:extLst xmlns:a="http://schemas.openxmlformats.org/drawingml/2006/main">
              <a:ext uri="{FF2B5EF4-FFF2-40B4-BE49-F238E27FC236}">
                <a16:creationId xmlns:a16="http://schemas.microsoft.com/office/drawing/2014/main" id="{339A3840-9A3E-48A5-AC88-1AEAD77AEC27}"/>
              </a:ext>
            </a:extLst>
          </p:cNvPr>
          <p:cNvSpPr>
            <a:spLocks xmlns:a="http://schemas.openxmlformats.org/drawingml/2006/main" noGrp="1"/>
          </p:cNvSpPr>
          <p:nvPr/>
        </p:nvSpPr>
        <p:spPr>
          <a:xfrm xmlns:a="http://schemas.openxmlformats.org/drawingml/2006/main">
            <a:off x="8258175" y="4219575"/>
            <a:ext cx="3333750" cy="2057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555D6B"/>
                </a:solidFill>
                <a:latin typeface="Malgun Gothic"/>
                <a:ea typeface="Malgun Gothic"/>
                <a:cs typeface="Malgun Gothic"/>
              </a:defRPr>
            </a:pPr>
            <a:r>
              <a:rPr sz="1800" b="0">
                <a:solidFill>
                  <a:srgbClr val="555D6B"/>
                </a:solidFill>
                <a:latin typeface="Malgun Gothic"/>
                <a:ea typeface="Malgun Gothic"/>
                <a:cs typeface="Malgun Gothic"/>
              </a:rPr>
              <a:t>.sidebar nav {</a:t>
            </a:r>
          </a:p>
          <a:p xmlns:a="http://schemas.openxmlformats.org/drawingml/2006/main">
            <a:pPr>
              <a:defRPr sz="1800" b="0">
                <a:solidFill>
                  <a:srgbClr val="555D6B"/>
                </a:solidFill>
                <a:latin typeface="Malgun Gothic"/>
                <a:ea typeface="Malgun Gothic"/>
                <a:cs typeface="Malgun Gothic"/>
              </a:defRPr>
            </a:pPr>
            <a:r>
              <a:rPr sz="1800" b="0">
                <a:solidFill>
                  <a:srgbClr val="555D6B"/>
                </a:solidFill>
                <a:latin typeface="Malgun Gothic"/>
                <a:ea typeface="Malgun Gothic"/>
                <a:cs typeface="Malgun Gothic"/>
              </a:rPr>
              <a:t>  position: sticky;</a:t>
            </a:r>
          </a:p>
          <a:p xmlns:a="http://schemas.openxmlformats.org/drawingml/2006/main">
            <a:pPr>
              <a:defRPr sz="1800" b="0">
                <a:solidFill>
                  <a:srgbClr val="555D6B"/>
                </a:solidFill>
                <a:latin typeface="Malgun Gothic"/>
                <a:ea typeface="Malgun Gothic"/>
                <a:cs typeface="Malgun Gothic"/>
              </a:defRPr>
            </a:pPr>
            <a:r>
              <a:rPr sz="1800" b="0">
                <a:solidFill>
                  <a:srgbClr val="555D6B"/>
                </a:solidFill>
                <a:latin typeface="Malgun Gothic"/>
                <a:ea typeface="Malgun Gothic"/>
                <a:cs typeface="Malgun Gothic"/>
              </a:rPr>
              <a:t>  top: 0;</a:t>
            </a:r>
          </a:p>
          <a:p xmlns:a="http://schemas.openxmlformats.org/drawingml/2006/main">
            <a:pPr>
              <a:defRPr sz="1800" b="0">
                <a:solidFill>
                  <a:srgbClr val="555D6B"/>
                </a:solidFill>
                <a:latin typeface="Malgun Gothic"/>
                <a:ea typeface="Malgun Gothic"/>
                <a:cs typeface="Malgun Gothic"/>
              </a:defRPr>
            </a:pPr>
            <a:r>
              <a:rPr sz="1800" b="0">
                <a:solidFill>
                  <a:srgbClr val="555D6B"/>
                </a:solidFill>
                <a:latin typeface="Malgun Gothic"/>
                <a:ea typeface="Malgun Gothic"/>
                <a:cs typeface="Malgun Gothic"/>
              </a:rPr>
              <a:t>  max-height: 100vh;</a:t>
            </a:r>
          </a:p>
          <a:p xmlns:a="http://schemas.openxmlformats.org/drawingml/2006/main">
            <a:pPr>
              <a:defRPr sz="1800" b="0">
                <a:solidFill>
                  <a:srgbClr val="555D6B"/>
                </a:solidFill>
                <a:latin typeface="Malgun Gothic"/>
                <a:ea typeface="Malgun Gothic"/>
                <a:cs typeface="Malgun Gothic"/>
              </a:defRPr>
            </a:pPr>
            <a:r>
              <a:rPr sz="1800" b="0">
                <a:solidFill>
                  <a:srgbClr val="555D6B"/>
                </a:solidFill>
                <a:latin typeface="Malgun Gothic"/>
                <a:ea typeface="Malgun Gothic"/>
                <a:cs typeface="Malgun Gothic"/>
              </a:rPr>
              <a:t>  overflow-y: auto;</a:t>
            </a:r>
          </a:p>
          <a:p xmlns:a="http://schemas.openxmlformats.org/drawingml/2006/main">
            <a:pPr>
              <a:defRPr sz="1800" b="0">
                <a:solidFill>
                  <a:srgbClr val="555D6B"/>
                </a:solidFill>
                <a:latin typeface="Malgun Gothic"/>
                <a:ea typeface="Malgun Gothic"/>
                <a:cs typeface="Malgun Gothic"/>
              </a:defRPr>
            </a:pPr>
            <a:r>
              <a:rPr sz="1800" b="0">
                <a:solidFill>
                  <a:srgbClr val="555D6B"/>
                </a:solidFill>
                <a:latin typeface="Malgun Gothic"/>
                <a:ea typeface="Malgun Gothic"/>
                <a:cs typeface="Malgun Gothic"/>
              </a:rPr>
              <a:t>}</a:t>
            </a:r>
          </a:p>
        </p:txBody>
      </p:sp>
    </p:spTree>
    <p:extLst>
      <p:ext uri="{BB962C8B-B14F-4D97-AF65-F5344CB8AC3E}">
        <p14:creationId xmlns:p14="http://schemas.microsoft.com/office/powerpoint/2010/main" val="1409088698"/>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text-26">
            <a:extLst xmlns:a="http://schemas.openxmlformats.org/drawingml/2006/main">
              <a:ext uri="{FF2B5EF4-FFF2-40B4-BE49-F238E27FC236}">
                <a16:creationId xmlns:a16="http://schemas.microsoft.com/office/drawing/2014/main" id="{593DDCD8-6AED-41A8-A83E-5CF08033D706}"/>
              </a:ext>
            </a:extLst>
          </p:cNvPr>
          <p:cNvSpPr>
            <a:spLocks xmlns:a="http://schemas.openxmlformats.org/drawingml/2006/main" noGrp="1"/>
          </p:cNvSpPr>
          <p:nvPr/>
        </p:nvSpPr>
        <p:spPr>
          <a:xfrm xmlns:a="http://schemas.openxmlformats.org/drawingml/2006/main">
            <a:off x="609600" y="438150"/>
            <a:ext cx="109728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450" b="1">
                <a:solidFill>
                  <a:srgbClr val="18191C"/>
                </a:solidFill>
                <a:latin typeface="Malgun Gothic"/>
                <a:ea typeface="Malgun Gothic"/>
                <a:cs typeface="Malgun Gothic"/>
              </a:defRPr>
            </a:pPr>
            <a:r>
              <a:rPr sz="3450" b="1">
                <a:solidFill>
                  <a:srgbClr val="18191C"/>
                </a:solidFill>
                <a:latin typeface="Malgun Gothic"/>
                <a:ea typeface="Malgun Gothic"/>
                <a:cs typeface="Malgun Gothic"/>
              </a:rPr>
              <a:t>CSS로 표현한 선택 상태</a:t>
            </a:r>
          </a:p>
        </p:txBody>
      </p:sp>
      <p:sp>
        <p:nvSpPr>
          <p:cNvPr id="2" name="text-27">
            <a:extLst xmlns:a="http://schemas.openxmlformats.org/drawingml/2006/main">
              <a:ext uri="{FF2B5EF4-FFF2-40B4-BE49-F238E27FC236}">
                <a16:creationId xmlns:a16="http://schemas.microsoft.com/office/drawing/2014/main" id="{6F54B16D-9C14-4A00-86E8-E0854AE90E34}"/>
              </a:ext>
            </a:extLst>
          </p:cNvPr>
          <p:cNvSpPr>
            <a:spLocks xmlns:a="http://schemas.openxmlformats.org/drawingml/2006/main" noGrp="1"/>
          </p:cNvSpPr>
          <p:nvPr/>
        </p:nvSpPr>
        <p:spPr>
          <a:xfrm xmlns:a="http://schemas.openxmlformats.org/drawingml/2006/main">
            <a:off x="609600" y="1800225"/>
            <a:ext cx="20955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1">
                <a:solidFill>
                  <a:srgbClr val="555D6B"/>
                </a:solidFill>
                <a:latin typeface="Malgun Gothic"/>
                <a:ea typeface="Malgun Gothic"/>
                <a:cs typeface="Malgun Gothic"/>
              </a:defRPr>
            </a:pPr>
            <a:r>
              <a:rPr sz="2100" b="1">
                <a:solidFill>
                  <a:srgbClr val="555D6B"/>
                </a:solidFill>
                <a:latin typeface="Malgun Gothic"/>
                <a:ea typeface="Malgun Gothic"/>
                <a:cs typeface="Malgun Gothic"/>
              </a:rPr>
              <a:t>기본 상태</a:t>
            </a:r>
          </a:p>
        </p:txBody>
      </p:sp>
      <p:pic>
        <p:nvPicPr>
          <p:cNvPr id="9" name=""/>
          <p:cNvPicPr>
            <a:picLocks xmlns:a="http://schemas.openxmlformats.org/drawingml/2006/main" noChangeAspect="1"/>
          </p:cNvPicPr>
          <p:nvPr/>
        </p:nvPicPr>
        <p:blipFill>
          <a:blip xmlns:r="http://schemas.openxmlformats.org/officeDocument/2006/relationships" xmlns:a="http://schemas.openxmlformats.org/drawingml/2006/main" r:embed="R79bca34c7b7f40e3"/>
          <a:stretch xmlns:a="http://schemas.openxmlformats.org/drawingml/2006/main"/>
        </p:blipFill>
        <p:spPr>
          <a:xfrm xmlns:a="http://schemas.openxmlformats.org/drawingml/2006/main">
            <a:off x="2705100" y="1407795"/>
            <a:ext cx="8877300" cy="1775460"/>
          </a:xfrm>
          <a:prstGeom xmlns:a="http://schemas.openxmlformats.org/drawingml/2006/main" prst="rect">
            <a:avLst/>
          </a:prstGeom>
        </p:spPr>
      </p:pic>
      <p:sp>
        <p:nvSpPr>
          <p:cNvPr id="4" name="text-28">
            <a:extLst xmlns:a="http://schemas.openxmlformats.org/drawingml/2006/main">
              <a:ext uri="{FF2B5EF4-FFF2-40B4-BE49-F238E27FC236}">
                <a16:creationId xmlns:a16="http://schemas.microsoft.com/office/drawing/2014/main" id="{A391F7E7-E8CE-47CF-BB60-CB9699D5F050}"/>
              </a:ext>
            </a:extLst>
          </p:cNvPr>
          <p:cNvSpPr>
            <a:spLocks xmlns:a="http://schemas.openxmlformats.org/drawingml/2006/main" noGrp="1"/>
          </p:cNvSpPr>
          <p:nvPr/>
        </p:nvSpPr>
        <p:spPr>
          <a:xfrm xmlns:a="http://schemas.openxmlformats.org/drawingml/2006/main">
            <a:off x="609600" y="3867150"/>
            <a:ext cx="20955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1">
                <a:solidFill>
                  <a:srgbClr val="005CC9"/>
                </a:solidFill>
                <a:latin typeface="Malgun Gothic"/>
                <a:ea typeface="Malgun Gothic"/>
                <a:cs typeface="Malgun Gothic"/>
              </a:defRPr>
            </a:pPr>
            <a:r>
              <a:rPr sz="2100" b="1">
                <a:solidFill>
                  <a:srgbClr val="005CC9"/>
                </a:solidFill>
                <a:latin typeface="Malgun Gothic"/>
                <a:ea typeface="Malgun Gothic"/>
                <a:cs typeface="Malgun Gothic"/>
              </a:rPr>
              <a:t>마우스 선택</a:t>
            </a:r>
          </a:p>
        </p:txBody>
      </p:sp>
      <p:pic>
        <p:nvPicPr>
          <p:cNvPr id="11" name=""/>
          <p:cNvPicPr>
            <a:picLocks xmlns:a="http://schemas.openxmlformats.org/drawingml/2006/main" noChangeAspect="1"/>
          </p:cNvPicPr>
          <p:nvPr/>
        </p:nvPicPr>
        <p:blipFill>
          <a:blip xmlns:r="http://schemas.openxmlformats.org/officeDocument/2006/relationships" xmlns:a="http://schemas.openxmlformats.org/drawingml/2006/main" r:embed="R29e4d485d0254c03"/>
          <a:stretch xmlns:a="http://schemas.openxmlformats.org/drawingml/2006/main"/>
        </p:blipFill>
        <p:spPr>
          <a:xfrm xmlns:a="http://schemas.openxmlformats.org/drawingml/2006/main">
            <a:off x="2705100" y="3474720"/>
            <a:ext cx="8877300" cy="1775460"/>
          </a:xfrm>
          <a:prstGeom xmlns:a="http://schemas.openxmlformats.org/drawingml/2006/main" prst="rect">
            <a:avLst/>
          </a:prstGeom>
        </p:spPr>
      </p:pic>
      <p:sp>
        <p:nvSpPr>
          <p:cNvPr id="6" name="text-29">
            <a:extLst xmlns:a="http://schemas.openxmlformats.org/drawingml/2006/main">
              <a:ext uri="{FF2B5EF4-FFF2-40B4-BE49-F238E27FC236}">
                <a16:creationId xmlns:a16="http://schemas.microsoft.com/office/drawing/2014/main" id="{787A1D84-1904-4252-BE66-6803FE8E8661}"/>
              </a:ext>
            </a:extLst>
          </p:cNvPr>
          <p:cNvSpPr>
            <a:spLocks xmlns:a="http://schemas.openxmlformats.org/drawingml/2006/main" noGrp="1"/>
          </p:cNvSpPr>
          <p:nvPr/>
        </p:nvSpPr>
        <p:spPr>
          <a:xfrm xmlns:a="http://schemas.openxmlformats.org/drawingml/2006/main">
            <a:off x="609600" y="5667375"/>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1">
                <a:solidFill>
                  <a:srgbClr val="005CC9"/>
                </a:solidFill>
                <a:latin typeface="Malgun Gothic"/>
                <a:ea typeface="Malgun Gothic"/>
                <a:cs typeface="Malgun Gothic"/>
              </a:defRPr>
            </a:pPr>
            <a:r>
              <a:rPr sz="2175" b="1">
                <a:solidFill>
                  <a:srgbClr val="005CC9"/>
                </a:solidFill>
                <a:latin typeface="Malgun Gothic"/>
                <a:ea typeface="Malgun Gothic"/>
                <a:cs typeface="Malgun Gothic"/>
              </a:rPr>
              <a:t>:hover와 :focus-visible에 같은 강조색 적용</a:t>
            </a:r>
          </a:p>
        </p:txBody>
      </p:sp>
    </p:spTree>
    <p:extLst>
      <p:ext uri="{BB962C8B-B14F-4D97-AF65-F5344CB8AC3E}">
        <p14:creationId xmlns:p14="http://schemas.microsoft.com/office/powerpoint/2010/main" val="855842776"/>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text-30">
            <a:extLst xmlns:a="http://schemas.openxmlformats.org/drawingml/2006/main">
              <a:ext uri="{FF2B5EF4-FFF2-40B4-BE49-F238E27FC236}">
                <a16:creationId xmlns:a16="http://schemas.microsoft.com/office/drawing/2014/main" id="{02184F8B-57B9-448A-B818-6BF5A6E8B3BB}"/>
              </a:ext>
            </a:extLst>
          </p:cNvPr>
          <p:cNvSpPr>
            <a:spLocks xmlns:a="http://schemas.openxmlformats.org/drawingml/2006/main" noGrp="1"/>
          </p:cNvSpPr>
          <p:nvPr/>
        </p:nvSpPr>
        <p:spPr>
          <a:xfrm xmlns:a="http://schemas.openxmlformats.org/drawingml/2006/main">
            <a:off x="609600" y="438150"/>
            <a:ext cx="109728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450" b="1">
                <a:solidFill>
                  <a:srgbClr val="18191C"/>
                </a:solidFill>
                <a:latin typeface="Malgun Gothic"/>
                <a:ea typeface="Malgun Gothic"/>
                <a:cs typeface="Malgun Gothic"/>
              </a:defRPr>
            </a:pPr>
            <a:r>
              <a:rPr sz="3450" b="1">
                <a:solidFill>
                  <a:srgbClr val="18191C"/>
                </a:solidFill>
                <a:latin typeface="Malgun Gothic"/>
                <a:ea typeface="Malgun Gothic"/>
                <a:cs typeface="Malgun Gothic"/>
              </a:rPr>
              <a:t>팀 페이지와 외부 서비스 연결</a:t>
            </a:r>
          </a:p>
        </p:txBody>
      </p:sp>
      <p:pic>
        <p:nvPicPr>
          <p:cNvPr id="8" name=""/>
          <p:cNvPicPr>
            <a:picLocks xmlns:a="http://schemas.openxmlformats.org/drawingml/2006/main" noChangeAspect="1"/>
          </p:cNvPicPr>
          <p:nvPr/>
        </p:nvPicPr>
        <p:blipFill>
          <a:blip xmlns:r="http://schemas.openxmlformats.org/officeDocument/2006/relationships" xmlns:a="http://schemas.openxmlformats.org/drawingml/2006/main" r:embed="Rebdc2b46281f4e70"/>
          <a:stretch xmlns:a="http://schemas.openxmlformats.org/drawingml/2006/main"/>
        </p:blipFill>
        <p:spPr>
          <a:xfrm xmlns:a="http://schemas.openxmlformats.org/drawingml/2006/main">
            <a:off x="609600" y="1460183"/>
            <a:ext cx="10972800" cy="899160"/>
          </a:xfrm>
          <a:prstGeom xmlns:a="http://schemas.openxmlformats.org/drawingml/2006/main" prst="rect">
            <a:avLst/>
          </a:prstGeom>
        </p:spPr>
      </p:pic>
      <p:sp>
        <p:nvSpPr>
          <p:cNvPr id="3" name="text-31">
            <a:extLst xmlns:a="http://schemas.openxmlformats.org/drawingml/2006/main">
              <a:ext uri="{FF2B5EF4-FFF2-40B4-BE49-F238E27FC236}">
                <a16:creationId xmlns:a16="http://schemas.microsoft.com/office/drawing/2014/main" id="{B62C282B-AF93-4E00-9D8B-8CC750BA822D}"/>
              </a:ext>
            </a:extLst>
          </p:cNvPr>
          <p:cNvSpPr>
            <a:spLocks xmlns:a="http://schemas.openxmlformats.org/drawingml/2006/main" noGrp="1"/>
          </p:cNvSpPr>
          <p:nvPr/>
        </p:nvSpPr>
        <p:spPr>
          <a:xfrm xmlns:a="http://schemas.openxmlformats.org/drawingml/2006/main">
            <a:off x="609600" y="2876550"/>
            <a:ext cx="50482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1">
                <a:solidFill>
                  <a:srgbClr val="005CC9"/>
                </a:solidFill>
                <a:latin typeface="Malgun Gothic"/>
                <a:ea typeface="Malgun Gothic"/>
                <a:cs typeface="Malgun Gothic"/>
              </a:defRPr>
            </a:pPr>
            <a:r>
              <a:rPr sz="2325" b="1">
                <a:solidFill>
                  <a:srgbClr val="005CC9"/>
                </a:solidFill>
                <a:latin typeface="Malgun Gothic"/>
                <a:ea typeface="Malgun Gothic"/>
                <a:cs typeface="Malgun Gothic"/>
              </a:rPr>
              <a:t>프로젝트 내부 링크</a:t>
            </a:r>
          </a:p>
        </p:txBody>
      </p:sp>
      <p:sp>
        <p:nvSpPr>
          <p:cNvPr id="4" name="text-32">
            <a:extLst xmlns:a="http://schemas.openxmlformats.org/drawingml/2006/main">
              <a:ext uri="{FF2B5EF4-FFF2-40B4-BE49-F238E27FC236}">
                <a16:creationId xmlns:a16="http://schemas.microsoft.com/office/drawing/2014/main" id="{D00EBF54-1A0E-472F-A65F-98DAD40F1968}"/>
              </a:ext>
            </a:extLst>
          </p:cNvPr>
          <p:cNvSpPr>
            <a:spLocks xmlns:a="http://schemas.openxmlformats.org/drawingml/2006/main" noGrp="1"/>
          </p:cNvSpPr>
          <p:nvPr/>
        </p:nvSpPr>
        <p:spPr>
          <a:xfrm xmlns:a="http://schemas.openxmlformats.org/drawingml/2006/main">
            <a:off x="609600" y="3733800"/>
            <a:ext cx="5181600" cy="1971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8191C"/>
                </a:solidFill>
                <a:latin typeface="Malgun Gothic"/>
                <a:ea typeface="Malgun Gothic"/>
                <a:cs typeface="Malgun Gothic"/>
              </a:defRPr>
            </a:pPr>
            <a:r>
              <a:rPr sz="2025" b="0">
                <a:solidFill>
                  <a:srgbClr val="18191C"/>
                </a:solidFill>
                <a:latin typeface="Malgun Gothic"/>
                <a:ea typeface="Malgun Gothic"/>
                <a:cs typeface="Malgun Gothic"/>
              </a:rPr>
              <a:t>로고는 메인 페이지로 이동</a:t>
            </a:r>
          </a:p>
          <a:p xmlns:a="http://schemas.openxmlformats.org/drawingml/2006/main">
            <a:pPr>
              <a:defRPr sz="2025" b="0">
                <a:solidFill>
                  <a:srgbClr val="18191C"/>
                </a:solidFill>
                <a:latin typeface="Malgun Gothic"/>
                <a:ea typeface="Malgun Gothic"/>
                <a:cs typeface="Malgun Gothic"/>
              </a:defRPr>
            </a:pPr>
            <a:r>
              <a:rPr sz="2025" b="0">
                <a:solidFill>
                  <a:srgbClr val="18191C"/>
                </a:solidFill>
                <a:latin typeface="Malgun Gothic"/>
                <a:ea typeface="Malgun Gothic"/>
                <a:cs typeface="Malgun Gothic"/>
              </a:rPr>
              <a:t>회원가입과 로그인은 로그인 페이지로 이동</a:t>
            </a:r>
          </a:p>
          <a:p xmlns:a="http://schemas.openxmlformats.org/drawingml/2006/main">
            <a:pPr>
              <a:defRPr sz="2025" b="0">
                <a:solidFill>
                  <a:srgbClr val="18191C"/>
                </a:solidFill>
                <a:latin typeface="Malgun Gothic"/>
                <a:ea typeface="Malgun Gothic"/>
                <a:cs typeface="Malgun Gothic"/>
              </a:defRPr>
            </a:pPr>
            <a:r>
              <a:rPr sz="2025" b="0">
                <a:solidFill>
                  <a:srgbClr val="18191C"/>
                </a:solidFill>
                <a:latin typeface="Malgun Gothic"/>
                <a:ea typeface="Malgun Gothic"/>
                <a:cs typeface="Malgun Gothic"/>
              </a:rPr>
              <a:t>공지사항, MY결제, 보안센터 연결</a:t>
            </a:r>
          </a:p>
        </p:txBody>
      </p:sp>
      <p:sp>
        <p:nvSpPr>
          <p:cNvPr id="5" name="text-33">
            <a:extLst xmlns:a="http://schemas.openxmlformats.org/drawingml/2006/main">
              <a:ext uri="{FF2B5EF4-FFF2-40B4-BE49-F238E27FC236}">
                <a16:creationId xmlns:a16="http://schemas.microsoft.com/office/drawing/2014/main" id="{3B497291-84DE-4563-8800-924CBE7608D5}"/>
              </a:ext>
            </a:extLst>
          </p:cNvPr>
          <p:cNvSpPr>
            <a:spLocks xmlns:a="http://schemas.openxmlformats.org/drawingml/2006/main" noGrp="1"/>
          </p:cNvSpPr>
          <p:nvPr/>
        </p:nvSpPr>
        <p:spPr>
          <a:xfrm xmlns:a="http://schemas.openxmlformats.org/drawingml/2006/main">
            <a:off x="6543675" y="2876550"/>
            <a:ext cx="50482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1">
                <a:solidFill>
                  <a:srgbClr val="005CC9"/>
                </a:solidFill>
                <a:latin typeface="Malgun Gothic"/>
                <a:ea typeface="Malgun Gothic"/>
                <a:cs typeface="Malgun Gothic"/>
              </a:defRPr>
            </a:pPr>
            <a:r>
              <a:rPr sz="2325" b="1">
                <a:solidFill>
                  <a:srgbClr val="005CC9"/>
                </a:solidFill>
                <a:latin typeface="Malgun Gothic"/>
                <a:ea typeface="Malgun Gothic"/>
                <a:cs typeface="Malgun Gothic"/>
              </a:rPr>
              <a:t>외부 서비스 링크</a:t>
            </a:r>
          </a:p>
        </p:txBody>
      </p:sp>
      <p:sp>
        <p:nvSpPr>
          <p:cNvPr id="6" name="text-34">
            <a:extLst xmlns:a="http://schemas.openxmlformats.org/drawingml/2006/main">
              <a:ext uri="{FF2B5EF4-FFF2-40B4-BE49-F238E27FC236}">
                <a16:creationId xmlns:a16="http://schemas.microsoft.com/office/drawing/2014/main" id="{C74F8426-C2F5-460D-8CFA-18790077F6E7}"/>
              </a:ext>
            </a:extLst>
          </p:cNvPr>
          <p:cNvSpPr>
            <a:spLocks xmlns:a="http://schemas.openxmlformats.org/drawingml/2006/main" noGrp="1"/>
          </p:cNvSpPr>
          <p:nvPr/>
        </p:nvSpPr>
        <p:spPr>
          <a:xfrm xmlns:a="http://schemas.openxmlformats.org/drawingml/2006/main">
            <a:off x="6543675" y="3733800"/>
            <a:ext cx="5048250" cy="1971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8191C"/>
                </a:solidFill>
                <a:latin typeface="Malgun Gothic"/>
                <a:ea typeface="Malgun Gothic"/>
                <a:cs typeface="Malgun Gothic"/>
              </a:defRPr>
            </a:pPr>
            <a:r>
              <a:rPr sz="2025" b="0">
                <a:solidFill>
                  <a:srgbClr val="18191C"/>
                </a:solidFill>
                <a:latin typeface="Malgun Gothic"/>
                <a:ea typeface="Malgun Gothic"/>
                <a:cs typeface="Malgun Gothic"/>
              </a:rPr>
              <a:t>게임 카드는 각 문의 페이지로 이동</a:t>
            </a:r>
          </a:p>
          <a:p xmlns:a="http://schemas.openxmlformats.org/drawingml/2006/main">
            <a:pPr>
              <a:defRPr sz="2025" b="0">
                <a:solidFill>
                  <a:srgbClr val="18191C"/>
                </a:solidFill>
                <a:latin typeface="Malgun Gothic"/>
                <a:ea typeface="Malgun Gothic"/>
                <a:cs typeface="Malgun Gothic"/>
              </a:defRPr>
            </a:pPr>
            <a:r>
              <a:rPr sz="2025" b="0">
                <a:solidFill>
                  <a:srgbClr val="18191C"/>
                </a:solidFill>
                <a:latin typeface="Malgun Gothic"/>
                <a:ea typeface="Malgun Gothic"/>
                <a:cs typeface="Malgun Gothic"/>
              </a:rPr>
              <a:t>이벤트와 내정보는 넥슨 서비스 연결</a:t>
            </a:r>
          </a:p>
          <a:p xmlns:a="http://schemas.openxmlformats.org/drawingml/2006/main">
            <a:pPr>
              <a:defRPr sz="2025" b="0">
                <a:solidFill>
                  <a:srgbClr val="18191C"/>
                </a:solidFill>
                <a:latin typeface="Malgun Gothic"/>
                <a:ea typeface="Malgun Gothic"/>
                <a:cs typeface="Malgun Gothic"/>
              </a:defRPr>
            </a:pPr>
            <a:r>
              <a:rPr sz="2025" b="0">
                <a:solidFill>
                  <a:srgbClr val="18191C"/>
                </a:solidFill>
                <a:latin typeface="Malgun Gothic"/>
                <a:ea typeface="Malgun Gothic"/>
                <a:cs typeface="Malgun Gothic"/>
              </a:rPr>
              <a:t>문의방법, 다운로드, 신고하기 연결</a:t>
            </a:r>
          </a:p>
        </p:txBody>
      </p:sp>
    </p:spTree>
    <p:extLst>
      <p:ext uri="{BB962C8B-B14F-4D97-AF65-F5344CB8AC3E}">
        <p14:creationId xmlns:p14="http://schemas.microsoft.com/office/powerpoint/2010/main" val="1868541726"/>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text-35">
            <a:extLst xmlns:a="http://schemas.openxmlformats.org/drawingml/2006/main">
              <a:ext uri="{FF2B5EF4-FFF2-40B4-BE49-F238E27FC236}">
                <a16:creationId xmlns:a16="http://schemas.microsoft.com/office/drawing/2014/main" id="{C17173B0-30A9-4DE1-A3B1-0277A69C2150}"/>
              </a:ext>
            </a:extLst>
          </p:cNvPr>
          <p:cNvSpPr>
            <a:spLocks xmlns:a="http://schemas.openxmlformats.org/drawingml/2006/main" noGrp="1"/>
          </p:cNvSpPr>
          <p:nvPr/>
        </p:nvSpPr>
        <p:spPr>
          <a:xfrm xmlns:a="http://schemas.openxmlformats.org/drawingml/2006/main">
            <a:off x="609600" y="438150"/>
            <a:ext cx="109728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450" b="1">
                <a:solidFill>
                  <a:srgbClr val="18191C"/>
                </a:solidFill>
                <a:latin typeface="Malgun Gothic"/>
                <a:ea typeface="Malgun Gothic"/>
                <a:cs typeface="Malgun Gothic"/>
              </a:defRPr>
            </a:pPr>
            <a:r>
              <a:rPr sz="3450" b="1">
                <a:solidFill>
                  <a:srgbClr val="18191C"/>
                </a:solidFill>
                <a:latin typeface="Malgun Gothic"/>
                <a:ea typeface="Malgun Gothic"/>
                <a:cs typeface="Malgun Gothic"/>
              </a:rPr>
              <a:t>구현 범위와 시연</a:t>
            </a:r>
          </a:p>
        </p:txBody>
      </p:sp>
      <p:sp>
        <p:nvSpPr>
          <p:cNvPr id="2" name="text-36">
            <a:extLst xmlns:a="http://schemas.openxmlformats.org/drawingml/2006/main">
              <a:ext uri="{FF2B5EF4-FFF2-40B4-BE49-F238E27FC236}">
                <a16:creationId xmlns:a16="http://schemas.microsoft.com/office/drawing/2014/main" id="{C68FDBBD-D935-422F-8A03-1EE6A1F675CF}"/>
              </a:ext>
            </a:extLst>
          </p:cNvPr>
          <p:cNvSpPr>
            <a:spLocks xmlns:a="http://schemas.openxmlformats.org/drawingml/2006/main" noGrp="1"/>
          </p:cNvSpPr>
          <p:nvPr/>
        </p:nvSpPr>
        <p:spPr>
          <a:xfrm xmlns:a="http://schemas.openxmlformats.org/drawingml/2006/main">
            <a:off x="609600" y="1552575"/>
            <a:ext cx="5048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1">
                <a:solidFill>
                  <a:srgbClr val="005CC9"/>
                </a:solidFill>
                <a:latin typeface="Malgun Gothic"/>
                <a:ea typeface="Malgun Gothic"/>
                <a:cs typeface="Malgun Gothic"/>
              </a:defRPr>
            </a:pPr>
            <a:r>
              <a:rPr sz="2400" b="1">
                <a:solidFill>
                  <a:srgbClr val="005CC9"/>
                </a:solidFill>
                <a:latin typeface="Malgun Gothic"/>
                <a:ea typeface="Malgun Gothic"/>
                <a:cs typeface="Malgun Gothic"/>
              </a:rPr>
              <a:t>구현한 부분</a:t>
            </a:r>
          </a:p>
        </p:txBody>
      </p:sp>
      <p:sp>
        <p:nvSpPr>
          <p:cNvPr id="3" name="text-37">
            <a:extLst xmlns:a="http://schemas.openxmlformats.org/drawingml/2006/main">
              <a:ext uri="{FF2B5EF4-FFF2-40B4-BE49-F238E27FC236}">
                <a16:creationId xmlns:a16="http://schemas.microsoft.com/office/drawing/2014/main" id="{1292188D-0942-478B-939A-118FE50A4391}"/>
              </a:ext>
            </a:extLst>
          </p:cNvPr>
          <p:cNvSpPr>
            <a:spLocks xmlns:a="http://schemas.openxmlformats.org/drawingml/2006/main" noGrp="1"/>
          </p:cNvSpPr>
          <p:nvPr/>
        </p:nvSpPr>
        <p:spPr>
          <a:xfrm xmlns:a="http://schemas.openxmlformats.org/drawingml/2006/main">
            <a:off x="609600" y="2466975"/>
            <a:ext cx="5191125" cy="2247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18191C"/>
                </a:solidFill>
                <a:latin typeface="Malgun Gothic"/>
                <a:ea typeface="Malgun Gothic"/>
                <a:cs typeface="Malgun Gothic"/>
              </a:defRPr>
            </a:pPr>
            <a:r>
              <a:rPr sz="2175" b="0">
                <a:solidFill>
                  <a:srgbClr val="18191C"/>
                </a:solidFill>
                <a:latin typeface="Malgun Gothic"/>
                <a:ea typeface="Malgun Gothic"/>
                <a:cs typeface="Malgun Gothic"/>
              </a:rPr>
              <a:t>HTML 화면 구조</a:t>
            </a:r>
          </a:p>
          <a:p xmlns:a="http://schemas.openxmlformats.org/drawingml/2006/main">
            <a:pPr>
              <a:defRPr sz="2175" b="0">
                <a:solidFill>
                  <a:srgbClr val="18191C"/>
                </a:solidFill>
                <a:latin typeface="Malgun Gothic"/>
                <a:ea typeface="Malgun Gothic"/>
                <a:cs typeface="Malgun Gothic"/>
              </a:defRPr>
            </a:pPr>
            <a:r>
              <a:rPr sz="2175" b="0">
                <a:solidFill>
                  <a:srgbClr val="18191C"/>
                </a:solidFill>
                <a:latin typeface="Malgun Gothic"/>
                <a:ea typeface="Malgun Gothic"/>
                <a:cs typeface="Malgun Gothic"/>
              </a:rPr>
              <a:t>Flex 기반 배치와 카드 줄바꿈</a:t>
            </a:r>
          </a:p>
          <a:p xmlns:a="http://schemas.openxmlformats.org/drawingml/2006/main">
            <a:pPr>
              <a:defRPr sz="2175" b="0">
                <a:solidFill>
                  <a:srgbClr val="18191C"/>
                </a:solidFill>
                <a:latin typeface="Malgun Gothic"/>
                <a:ea typeface="Malgun Gothic"/>
                <a:cs typeface="Malgun Gothic"/>
              </a:defRPr>
            </a:pPr>
            <a:r>
              <a:rPr sz="2175" b="0">
                <a:solidFill>
                  <a:srgbClr val="18191C"/>
                </a:solidFill>
                <a:latin typeface="Malgun Gothic"/>
                <a:ea typeface="Malgun Gothic"/>
                <a:cs typeface="Malgun Gothic"/>
              </a:rPr>
              <a:t>스크롤 메뉴와 CSS 선택 상태</a:t>
            </a:r>
          </a:p>
          <a:p xmlns:a="http://schemas.openxmlformats.org/drawingml/2006/main">
            <a:pPr>
              <a:defRPr sz="2175" b="0">
                <a:solidFill>
                  <a:srgbClr val="18191C"/>
                </a:solidFill>
                <a:latin typeface="Malgun Gothic"/>
                <a:ea typeface="Malgun Gothic"/>
                <a:cs typeface="Malgun Gothic"/>
              </a:defRPr>
            </a:pPr>
            <a:r>
              <a:rPr sz="2175" b="0">
                <a:solidFill>
                  <a:srgbClr val="18191C"/>
                </a:solidFill>
                <a:latin typeface="Malgun Gothic"/>
                <a:ea typeface="Malgun Gothic"/>
                <a:cs typeface="Malgun Gothic"/>
              </a:rPr>
              <a:t>내부 페이지와 외부 서비스 링크</a:t>
            </a:r>
          </a:p>
        </p:txBody>
      </p:sp>
      <p:sp>
        <p:nvSpPr>
          <p:cNvPr id="4" name="text-38">
            <a:extLst xmlns:a="http://schemas.openxmlformats.org/drawingml/2006/main">
              <a:ext uri="{FF2B5EF4-FFF2-40B4-BE49-F238E27FC236}">
                <a16:creationId xmlns:a16="http://schemas.microsoft.com/office/drawing/2014/main" id="{F89BDF42-D2EC-4759-A351-30DB32F43372}"/>
              </a:ext>
            </a:extLst>
          </p:cNvPr>
          <p:cNvSpPr>
            <a:spLocks xmlns:a="http://schemas.openxmlformats.org/drawingml/2006/main" noGrp="1"/>
          </p:cNvSpPr>
          <p:nvPr/>
        </p:nvSpPr>
        <p:spPr>
          <a:xfrm xmlns:a="http://schemas.openxmlformats.org/drawingml/2006/main">
            <a:off x="6553200" y="1552575"/>
            <a:ext cx="5048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1">
                <a:solidFill>
                  <a:srgbClr val="555D6B"/>
                </a:solidFill>
                <a:latin typeface="Malgun Gothic"/>
                <a:ea typeface="Malgun Gothic"/>
                <a:cs typeface="Malgun Gothic"/>
              </a:defRPr>
            </a:pPr>
            <a:r>
              <a:rPr sz="2400" b="1">
                <a:solidFill>
                  <a:srgbClr val="555D6B"/>
                </a:solidFill>
                <a:latin typeface="Malgun Gothic"/>
                <a:ea typeface="Malgun Gothic"/>
                <a:cs typeface="Malgun Gothic"/>
              </a:rPr>
              <a:t>현재 범위에 없는 부분</a:t>
            </a:r>
          </a:p>
        </p:txBody>
      </p:sp>
      <p:sp>
        <p:nvSpPr>
          <p:cNvPr id="5" name="text-39">
            <a:extLst xmlns:a="http://schemas.openxmlformats.org/drawingml/2006/main">
              <a:ext uri="{FF2B5EF4-FFF2-40B4-BE49-F238E27FC236}">
                <a16:creationId xmlns:a16="http://schemas.microsoft.com/office/drawing/2014/main" id="{D8EDE086-E48F-4BFC-8FF4-12417B7C59DD}"/>
              </a:ext>
            </a:extLst>
          </p:cNvPr>
          <p:cNvSpPr>
            <a:spLocks xmlns:a="http://schemas.openxmlformats.org/drawingml/2006/main" noGrp="1"/>
          </p:cNvSpPr>
          <p:nvPr/>
        </p:nvSpPr>
        <p:spPr>
          <a:xfrm xmlns:a="http://schemas.openxmlformats.org/drawingml/2006/main">
            <a:off x="6553200" y="2466975"/>
            <a:ext cx="5029200" cy="2247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18191C"/>
                </a:solidFill>
                <a:latin typeface="Malgun Gothic"/>
                <a:ea typeface="Malgun Gothic"/>
                <a:cs typeface="Malgun Gothic"/>
              </a:defRPr>
            </a:pPr>
            <a:r>
              <a:rPr sz="2175" b="0">
                <a:solidFill>
                  <a:srgbClr val="18191C"/>
                </a:solidFill>
                <a:latin typeface="Malgun Gothic"/>
                <a:ea typeface="Malgun Gothic"/>
                <a:cs typeface="Malgun Gothic"/>
              </a:rPr>
              <a:t>로그인 인증과 문의 접수 처리</a:t>
            </a:r>
          </a:p>
          <a:p xmlns:a="http://schemas.openxmlformats.org/drawingml/2006/main">
            <a:pPr>
              <a:defRPr sz="2175" b="0">
                <a:solidFill>
                  <a:srgbClr val="18191C"/>
                </a:solidFill>
                <a:latin typeface="Malgun Gothic"/>
                <a:ea typeface="Malgun Gothic"/>
                <a:cs typeface="Malgun Gothic"/>
              </a:defRPr>
            </a:pPr>
            <a:r>
              <a:rPr sz="2175" b="0">
                <a:solidFill>
                  <a:srgbClr val="18191C"/>
                </a:solidFill>
                <a:latin typeface="Malgun Gothic"/>
                <a:ea typeface="Malgun Gothic"/>
                <a:cs typeface="Malgun Gothic"/>
              </a:rPr>
              <a:t>메뉴 / 전체 서비스 보기 버튼 동작</a:t>
            </a:r>
          </a:p>
          <a:p xmlns:a="http://schemas.openxmlformats.org/drawingml/2006/main">
            <a:pPr>
              <a:defRPr sz="2175" b="0">
                <a:solidFill>
                  <a:srgbClr val="18191C"/>
                </a:solidFill>
                <a:latin typeface="Malgun Gothic"/>
                <a:ea typeface="Malgun Gothic"/>
                <a:cs typeface="Malgun Gothic"/>
              </a:defRPr>
            </a:pPr>
            <a:r>
              <a:rPr sz="2175" b="0">
                <a:solidFill>
                  <a:srgbClr val="18191C"/>
                </a:solidFill>
                <a:latin typeface="Malgun Gothic"/>
                <a:ea typeface="Malgun Gothic"/>
                <a:cs typeface="Malgun Gothic"/>
              </a:rPr>
              <a:t>화면 크기별 전용 미디어쿼리</a:t>
            </a:r>
          </a:p>
        </p:txBody>
      </p:sp>
      <p:sp>
        <p:nvSpPr>
          <p:cNvPr id="6" name="text-40">
            <a:extLst xmlns:a="http://schemas.openxmlformats.org/drawingml/2006/main">
              <a:ext uri="{FF2B5EF4-FFF2-40B4-BE49-F238E27FC236}">
                <a16:creationId xmlns:a16="http://schemas.microsoft.com/office/drawing/2014/main" id="{2BB10473-E0D4-46C0-A508-3971C629DA54}"/>
              </a:ext>
            </a:extLst>
          </p:cNvPr>
          <p:cNvSpPr>
            <a:spLocks xmlns:a="http://schemas.openxmlformats.org/drawingml/2006/main" noGrp="1"/>
          </p:cNvSpPr>
          <p:nvPr/>
        </p:nvSpPr>
        <p:spPr>
          <a:xfrm xmlns:a="http://schemas.openxmlformats.org/drawingml/2006/main">
            <a:off x="609600" y="5429250"/>
            <a:ext cx="2476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005CC9"/>
                </a:solidFill>
                <a:latin typeface="Malgun Gothic"/>
                <a:ea typeface="Malgun Gothic"/>
                <a:cs typeface="Malgun Gothic"/>
              </a:defRPr>
            </a:pPr>
            <a:r>
              <a:rPr sz="2025" b="1">
                <a:solidFill>
                  <a:srgbClr val="005CC9"/>
                </a:solidFill>
                <a:latin typeface="Malgun Gothic"/>
                <a:ea typeface="Malgun Gothic"/>
                <a:cs typeface="Malgun Gothic"/>
              </a:rPr>
              <a:t>시연 순서</a:t>
            </a:r>
          </a:p>
        </p:txBody>
      </p:sp>
      <p:sp>
        <p:nvSpPr>
          <p:cNvPr id="7" name="text-41">
            <a:extLst xmlns:a="http://schemas.openxmlformats.org/drawingml/2006/main">
              <a:ext uri="{FF2B5EF4-FFF2-40B4-BE49-F238E27FC236}">
                <a16:creationId xmlns:a16="http://schemas.microsoft.com/office/drawing/2014/main" id="{5E56D58D-EE8D-48FC-A0EC-83EF5E65F885}"/>
              </a:ext>
            </a:extLst>
          </p:cNvPr>
          <p:cNvSpPr>
            <a:spLocks xmlns:a="http://schemas.openxmlformats.org/drawingml/2006/main" noGrp="1"/>
          </p:cNvSpPr>
          <p:nvPr/>
        </p:nvSpPr>
        <p:spPr>
          <a:xfrm xmlns:a="http://schemas.openxmlformats.org/drawingml/2006/main">
            <a:off x="609600" y="5981700"/>
            <a:ext cx="1097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8191C"/>
                </a:solidFill>
                <a:latin typeface="Malgun Gothic"/>
                <a:ea typeface="Malgun Gothic"/>
                <a:cs typeface="Malgun Gothic"/>
              </a:defRPr>
            </a:pPr>
            <a:r>
              <a:rPr sz="1950" b="0">
                <a:solidFill>
                  <a:srgbClr val="18191C"/>
                </a:solidFill>
                <a:latin typeface="Malgun Gothic"/>
                <a:ea typeface="Malgun Gothic"/>
                <a:cs typeface="Malgun Gothic"/>
              </a:rPr>
              <a:t>전체 화면 확인  /  스크롤  /  버튼 선택 상태  /  페이지 이동</a:t>
            </a:r>
          </a:p>
        </p:txBody>
      </p:sp>
    </p:spTree>
    <p:extLst>
      <p:ext uri="{BB962C8B-B14F-4D97-AF65-F5344CB8AC3E}">
        <p14:creationId xmlns:p14="http://schemas.microsoft.com/office/powerpoint/2010/main" val="1620894584"/>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2026-09-18T04:02:09.2720000Z</dcterms:created>
  <dcterms:modified xsi:type="dcterms:W3CDTF">2026-09-18T04:02:09.2720000Z</dcterms:modified>
</coreProperties>
</file>