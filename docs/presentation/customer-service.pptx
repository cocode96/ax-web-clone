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3ad9cc30b245af" /><Relationship Type="http://schemas.openxmlformats.org/officeDocument/2006/relationships/extended-properties" Target="/docProps/app.xml" Id="Rceebfe18dacb4f5e" /><Relationship Type="http://schemas.openxmlformats.org/officeDocument/2006/relationships/officeDocument" Target="/ppt/presentation.xml" Id="Rd65fdef40a96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5f64830a9485f"/>
  </p:sldMasterIdLst>
  <p:notesMasterIdLst>
    <p:notesMasterId xmlns:r="http://schemas.openxmlformats.org/officeDocument/2006/relationships" r:id="R138368ccb86a4ca5"/>
  </p:notesMasterIdLst>
  <p:sldIdLst>
    <p:sldId xmlns:r="http://schemas.openxmlformats.org/officeDocument/2006/relationships" id="256" r:id="R0f46735f62b54b7b"/>
    <p:sldId xmlns:r="http://schemas.openxmlformats.org/officeDocument/2006/relationships" id="257" r:id="R25a100b6b9814197"/>
    <p:sldId xmlns:r="http://schemas.openxmlformats.org/officeDocument/2006/relationships" id="258" r:id="R29155b46a0774ee6"/>
    <p:sldId xmlns:r="http://schemas.openxmlformats.org/officeDocument/2006/relationships" id="259" r:id="R31beccceb95e4217"/>
    <p:sldId xmlns:r="http://schemas.openxmlformats.org/officeDocument/2006/relationships" id="260" r:id="R2a04d814a1c945ea"/>
    <p:sldId xmlns:r="http://schemas.openxmlformats.org/officeDocument/2006/relationships" id="261" r:id="R84b23f551ad14ef0"/>
    <p:sldId xmlns:r="http://schemas.openxmlformats.org/officeDocument/2006/relationships" id="262" r:id="R24cf9a84a2f54df6"/>
    <p:sldId xmlns:r="http://schemas.openxmlformats.org/officeDocument/2006/relationships" id="263" r:id="Rc5718bc3fc6f4459"/>
    <p:sldId xmlns:r="http://schemas.openxmlformats.org/officeDocument/2006/relationships" id="264" r:id="R1746bba4ccef4d86"/>
    <p:sldId xmlns:r="http://schemas.openxmlformats.org/officeDocument/2006/relationships" id="265" r:id="R530d5b2b668341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ba3444b8f8475c" /><Relationship Type="http://schemas.openxmlformats.org/officeDocument/2006/relationships/slideMaster" Target="/ppt/slideMasters/slideMaster1.xml" Id="R24b5f64830a9485f" /><Relationship Type="http://schemas.openxmlformats.org/officeDocument/2006/relationships/notesMaster" Target="/ppt/notesMasters/notesMaster1.xml" Id="R138368ccb86a4ca5" /><Relationship Type="http://schemas.openxmlformats.org/officeDocument/2006/relationships/presProps" Target="/ppt/presProps.xml" Id="R565d296f34584e86" /><Relationship Type="http://schemas.openxmlformats.org/officeDocument/2006/relationships/tableStyles" Target="/ppt/tableStyles.xml" Id="R8f84791b76244cf7" /><Relationship Type="http://schemas.openxmlformats.org/officeDocument/2006/relationships/slide" Target="/ppt/slides/slide1.xml" Id="R0f46735f62b54b7b" /><Relationship Type="http://schemas.openxmlformats.org/officeDocument/2006/relationships/slide" Target="/ppt/slides/slide2.xml" Id="R25a100b6b9814197" /><Relationship Type="http://schemas.openxmlformats.org/officeDocument/2006/relationships/slide" Target="/ppt/slides/slide3.xml" Id="R29155b46a0774ee6" /><Relationship Type="http://schemas.openxmlformats.org/officeDocument/2006/relationships/slide" Target="/ppt/slides/slide4.xml" Id="R31beccceb95e4217" /><Relationship Type="http://schemas.openxmlformats.org/officeDocument/2006/relationships/slide" Target="/ppt/slides/slide5.xml" Id="R2a04d814a1c945ea" /><Relationship Type="http://schemas.openxmlformats.org/officeDocument/2006/relationships/slide" Target="/ppt/slides/slide6.xml" Id="R84b23f551ad14ef0" /><Relationship Type="http://schemas.openxmlformats.org/officeDocument/2006/relationships/slide" Target="/ppt/slides/slide7.xml" Id="R24cf9a84a2f54df6" /><Relationship Type="http://schemas.openxmlformats.org/officeDocument/2006/relationships/slide" Target="/ppt/slides/slide8.xml" Id="Rc5718bc3fc6f4459" /><Relationship Type="http://schemas.openxmlformats.org/officeDocument/2006/relationships/slide" Target="/ppt/slides/slide9.xml" Id="R1746bba4ccef4d86" /><Relationship Type="http://schemas.openxmlformats.org/officeDocument/2006/relationships/slide" Target="/ppt/slides/slide10.xml" Id="R530d5b2b6683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30abd9258047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77f32ff19d4929" /><Relationship Type="http://schemas.openxmlformats.org/officeDocument/2006/relationships/notesMaster" Target="/ppt/notesMasters/notesMaster1.xml" Id="Rc7a64510364845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aee5af9c04844" /><Relationship Type="http://schemas.openxmlformats.org/officeDocument/2006/relationships/notesMaster" Target="/ppt/notesMasters/notesMaster1.xml" Id="Rf8dd9c26a3b349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31a02840714674" /><Relationship Type="http://schemas.openxmlformats.org/officeDocument/2006/relationships/notesMaster" Target="/ppt/notesMasters/notesMaster1.xml" Id="R0bbf6b59247a4e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e7dff70b894a8b" /><Relationship Type="http://schemas.openxmlformats.org/officeDocument/2006/relationships/notesMaster" Target="/ppt/notesMasters/notesMaster1.xml" Id="R891840482a76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5e1e8a71db487e" /><Relationship Type="http://schemas.openxmlformats.org/officeDocument/2006/relationships/notesMaster" Target="/ppt/notesMasters/notesMaster1.xml" Id="Rf2c3e5662ad2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ec9c92cbf4003" /><Relationship Type="http://schemas.openxmlformats.org/officeDocument/2006/relationships/notesMaster" Target="/ppt/notesMasters/notesMaster1.xml" Id="R34ff726626de49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2e46f6fffb4e00" /><Relationship Type="http://schemas.openxmlformats.org/officeDocument/2006/relationships/notesMaster" Target="/ppt/notesMasters/notesMaster1.xml" Id="Rd9e34ced773549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37d7b331fd4a64" /><Relationship Type="http://schemas.openxmlformats.org/officeDocument/2006/relationships/notesMaster" Target="/ppt/notesMasters/notesMaster1.xml" Id="Rd46d23e71378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393641b83e4d72" /><Relationship Type="http://schemas.openxmlformats.org/officeDocument/2006/relationships/notesMaster" Target="/ppt/notesMasters/notesMaster1.xml" Id="Rc3ccc0a479654f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28afda8ebc4751" /><Relationship Type="http://schemas.openxmlformats.org/officeDocument/2006/relationships/notesMaster" Target="/ppt/notesMasters/notesMaster1.xml" Id="Rb8f1253c0d1a47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발표는 넥슨 웹사이트 클론 코딩 프로젝트의 고객센터 담당 페이지에 관한 내용입니다. 고객센터의 화면을 HTML과 CSS로 구성했고, 전체 배치와 게임 목록, 스크롤 메뉴, 마우스와 키보드 반응을 중심으로 설명하겠습니다. 이 프로젝트는 팀원별로 페이지를 나누어 구현하는 HTML/CSS 학습 프로젝트입니다.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main, 79003e6. README.md, html/04_customer_service.html, css/04_customer_service.css</a:t>
            </a:r>
          </a:p>
          <a:p xmlns:a="http://schemas.openxmlformats.org/drawingml/2006/main">
            <a:r>
              <a:t>화면 캡처: 해당 커밋의 HTML/CSS와 로컬 원본 이미지.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화면은 위쪽 서비스 메뉴, 왼쪽 고객센터 메뉴, 오른쪽 본문으로 나뉩니다. 본문 위에는 로그인 안내가 있고, 아래에는 25개의 게임 및 서비스 카드가 있습니다. 사용자는 게임을 선택해 해당 문의 페이지로 이동할 수 있습니다. 화면의 정보 구조와 간격을 HTML과 CSS로 재현한 것이 이번 구현의 중심입니다.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main, 79003e6. html/04_customer_service.html</a:t>
            </a:r>
          </a:p>
          <a:p xmlns:a="http://schemas.openxmlformats.org/drawingml/2006/main">
            <a:r>
              <a:t>화면 캡처: 해당 커밋의 HTML/CSS와 로컬 원본 이미지.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HTML에서는 header가 상단 서비스 메뉴를, aside가 고객센터 보조 메뉴를, main이 실제 본문을 담당합니다. aside와 main은 service-layout이라는 같은 부모의 자식이므로 부모에 display: flex를 지정하면 나란히 놓입니다. sidebar의 flex: 0 0 80px는 늘어나는 비율 0, 줄어드는 비율 0, 기준 너비 80픽셀을 의미합니다. 따라서 왼쪽은 고정하고 service-content의 flex: 1로 남은 공간을 채웁니다. min-width: 0은 콘텐츠가 가진 기본 최소 너비보다 작게 줄어드는 것을 허용합니다. 이처럼 부모는 배치 방향을 결정하고 자식은 자신의 크기를 지정합니다.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main의 고객센터 소스, 79003e6. html/04_customer_service.html, css/04_customer_service.css: .service-layout, .sidebar, .service-content</a:t>
            </a:r>
          </a:p>
          <a:p xmlns:a="http://schemas.openxmlformats.org/drawingml/2006/main">
            <a:r>
              <a:t>코드 발췌는 설명을 위해 일부 선언을 생략한 것입니다.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헤더는 왼쪽 메뉴와 오른쪽 계정 영역의 너비가 서로 다릅니다. 로고를 좌우 요소 사이에만 배치하면 헤더 전체의 정중앙과 달라질 수 있습니다. 실제 코드에서는 header-top에 relative를 지정해 배치 기준을 만들고, 그 안의 header-logo에는 absolute를 적용합니다. top과 left의 50%는 부모의 너비와 높이를 기준으로 로고의 왼쪽 위 시작점을 가운데에 놓습니다. 이어서 transform의 translate(-50%, -50%)로 로고 자신의 크기 절반만큼 되돌리면 로고의 중심이 부모의 중심과 일치합니다. absolute 요소는 일반 흐름에서 빠지므로 헤더는 별도의 높이 63픽셀로 공간을 확보하고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main의 고객센터 소스, 79003e6. css/04_customer_service.css: .header-top, .header-logo</a:t>
            </a:r>
          </a:p>
          <a:p xmlns:a="http://schemas.openxmlformats.org/drawingml/2006/main">
            <a:r>
              <a:t>코드 발췌는 설명을 위해 일부 선언을 생략한 것입니다.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 카드는 이미지와 이름을 세로로 배치한 반복 구조입니다. ul 안의 li마다 같은 game-card 클래스를 사용하므로 한 번 정한 스타일이 전체 카드에 적용됩니다. 카드 너비는 138픽셀이고, 가로 간격은 32픽셀입니다. 여섯 개를 놓으면 138 곱하기 6에 다섯 간격인 32 곱하기 5를 더해 988픽셀이 됩니다. game-section의 최대 너비 1040픽셀에서 좌우 패딩 25픽셀씩을 빼면 990픽셀이므로 넓은 화면에서 한 줄에 여섯 개가 들어갑니다. 화면이 좁아지면 flex-wrap: wrap에 의해 다음 줄로 넘어갑니다. gap은 카드 사이에만 들어가며 바깥쪽 여백은 section의 padding이 담당합니다.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main의 고객센터 소스, 79003e6. css/04_customer_service.css: .game-section, .game-list, .game-card, .game-name</a:t>
            </a:r>
          </a:p>
          <a:p xmlns:a="http://schemas.openxmlformats.org/drawingml/2006/main">
            <a:r>
              <a:t>코드 발췌는 설명을 위해 일부 선언을 생략한 것입니다.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규칙은 customer-service라는 페이지 클래스 아래에 지정했습니다. 이 방식은 고객센터 스타일이 다른 페이지의 같은 태그까지 무조건 바꾸는 것을 줄여 줍니다. box-sizing: border-box를 적용하면 지정한 너비 안에 패딩과 테두리가 포함됩니다. 따라서 카드의 전체 너비는 138픽셀이고 좌우 1픽셀 테두리를 뺀 이미지 공간이 136픽셀이 됩니다. 제목과 목록의 기본 margin과 padding도 초기화해 브라우저 기본값 대신 CSS에서 간격을 정합니다. 게임 이미지는 너비와 높이를 모두 136픽셀로 지정해 로드 전부터 공간을 잡습니다. object-fit: cover는 원본 비율을 유지하며 지정 영역을 채우므로 이미지가 눌리지는 않지만 비율이 다르면 일부가 잘릴 수 있습니다. 공통 img의 display: block은 인라인 이미지 아래에 생길 수 있는 기준선 여백을 없애는 역할도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main의 고객센터 소스, 79003e6. css/04_customer_service.css: box-sizing 초기화, h1/h2/ul 초기화, img, .game-card img, .game-card</a:t>
            </a:r>
          </a:p>
          <a:p xmlns:a="http://schemas.openxmlformats.org/drawingml/2006/main">
            <a:r>
              <a:t>코드 발췌는 설명을 위해 일부 선언을 생략한 것입니다.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메뉴는 aside 전체를 화면에 고정하지 않고 그 안의 nav에 sticky를 적용했습니다. 그러면 회색 배경은 본문 높이만큼 이어지고, 실제 메뉴는 스크롤 중 화면 위에 붙습니다. sticky는 부모 영역 안에서 동작하므로 항상 화면 전체를 기준으로 고정하는 fixed와 차이가 있습니다. 메뉴 높이가 화면보다 커지는 경우를 고려해 최대 높이와 세로 스크롤도 지정했습니다.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main, 79003e6. css/04_customer_service.css: .sidebar, .sidebar nav</a:t>
            </a:r>
          </a:p>
          <a:p xmlns:a="http://schemas.openxmlformats.org/drawingml/2006/main">
            <a:r>
              <a:t>화면 캡처: 해당 커밋의 HTML/CSS와 로컬 원본 이미지.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버튼은 기본 검정색에서 hover일 때 파란색으로 바뀝니다. focus-visible은 브라우저가 포커스 표시가 필요하다고 판단한 상태에 적용되며, 일반적으로 키보드로 탭 이동할 때 확인할 수 있습니다. 두 선택자에 같은 색을 지정해 입력 방식이 달라도 선택 위치를 보여 줍니다. 기본 login-button에 transition: background-color 0.2s를 지정했기 때문에 색이 갑자기 바뀌지 않고 짧은 시간 동안 전환됩니다. 게임 카드에는 box-shadow를 0.3초 동안 전환하도록 했습니다. 그림자는 레이아웃에서 차지하는 크기를 바꾸지 않으므로 옆 카드가 밀리지 않습니다. 이 동작은 CSS 선택자와 transition으로 구현했고 JavaScript는 사용하지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main의 고객센터 소스, 79003e6. css/04_customer_service.css: .login-button, .login-button:hover, .login-button:focus-visible, .game-card</a:t>
            </a:r>
          </a:p>
          <a:p xmlns:a="http://schemas.openxmlformats.org/drawingml/2006/main">
            <a:r>
              <a:t>코드 발췌는 설명을 위해 일부 선언을 생략한 것입니다.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팀에서 만든 페이지끼리는 상대 경로를 사용해 연결합니다. 로고는 메인 페이지를 가리키고 로그인과 회원가입은 로그인 페이지로 이동합니다. 고객센터 메뉴에는 aria-current="page"를 넣었습니다. CSS의 속성 선택자가 이 값을 읽어 현재 메뉴의 밑줄과 글자색을 적용하므로 의미를 나타내는 HTML 속성과 시각적인 상태가 함께 연결됩니다. 게임별 문의와 이벤트 등은 외부 주소로 연결합니다. 이 연결은 이동 경로를 제공하는 것으로, 실제 로그인 인증이나 문의 저장 기능을 고객센터 페이지 안에서 처리하는 것은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main의 고객센터 소스, 79003e6. html/04_customer_service.html: a href, aria-current; css/04_customer_service.css: .site-nav a[aria-current="page"]</a:t>
            </a:r>
          </a:p>
          <a:p xmlns:a="http://schemas.openxmlformats.org/drawingml/2006/main">
            <a:r>
              <a:t>코드 발췌는 설명을 위해 일부 선언을 생략한 것입니다.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범위는 정적인 고객센터 화면과 CSS 상호작용, 링크 연결입니다. 로그인 인증과 문의 접수 같은 서버 기능은 포함하지 않았습니다. 메뉴와 전체 서비스 보기 버튼도 화면 요소만 있고 별도 동작은 연결하지 않았습니다. CSS에는 이 페이지 전용 미디어쿼리가 없습니다. 마지막으로 전체 화면을 보여 준 뒤 아래로 스크롤해 왼쪽 메뉴를 확인하고, 로그인 버튼과 게임 카드의 선택 상태, 내부 페이지 링크를 차례로 시연합니다.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AX-web-clone main, 79003e6. html/04_customer_service.html, css/04_customer_service.css</a:t>
            </a:r>
          </a:p>
          <a:p xmlns:a="http://schemas.openxmlformats.org/drawingml/2006/main">
            <a:r>
              <a:t>화면 캡처: 해당 커밋의 HTML/CSS와 로컬 원본 이미지. NEXON 및 각 게임 이미지의 권리는 원 권리자에게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3ddf3171047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dc35ae22a5401f" /><Relationship Type="http://schemas.openxmlformats.org/officeDocument/2006/relationships/slideLayout" Target="/ppt/slideLayouts/slideLayout1.xml" Id="Rd3623a22f1714d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23a22f1714d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5ee160c844985" /><Relationship Type="http://schemas.openxmlformats.org/officeDocument/2006/relationships/notesSlide" Target="/ppt/notesSlides/notesSlide1.xml" Id="Rbf45ff886b94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76124504444f1" /><Relationship Type="http://schemas.openxmlformats.org/officeDocument/2006/relationships/image" Target="/ppt/media/image.png" Id="R2139478d977f4e26" /><Relationship Type="http://schemas.openxmlformats.org/officeDocument/2006/relationships/notesSlide" Target="/ppt/notesSlides/notesSlide2.xml" Id="Re85d25a2a0ac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8ead3f19f40c2" /><Relationship Type="http://schemas.openxmlformats.org/officeDocument/2006/relationships/notesSlide" Target="/ppt/notesSlides/notesSlide3.xml" Id="R938d96fbbe65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109289d834b36" /><Relationship Type="http://schemas.openxmlformats.org/officeDocument/2006/relationships/notesSlide" Target="/ppt/notesSlides/notesSlide4.xml" Id="R361db79b1c2b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5adc1f4d4f3d" /><Relationship Type="http://schemas.openxmlformats.org/officeDocument/2006/relationships/image" Target="/ppt/media/image2.png" Id="R5670d0f8c46046cc" /><Relationship Type="http://schemas.openxmlformats.org/officeDocument/2006/relationships/notesSlide" Target="/ppt/notesSlides/notesSlide5.xml" Id="R6e66271df91942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418bcfdbd4281" /><Relationship Type="http://schemas.openxmlformats.org/officeDocument/2006/relationships/notesSlide" Target="/ppt/notesSlides/notesSlide6.xml" Id="R18ae320850fc4c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8e42b91f54395" /><Relationship Type="http://schemas.openxmlformats.org/officeDocument/2006/relationships/image" Target="/ppt/media/image3.png" Id="R43708931f90944a6" /><Relationship Type="http://schemas.openxmlformats.org/officeDocument/2006/relationships/notesSlide" Target="/ppt/notesSlides/notesSlide7.xml" Id="R40344887671843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755322d404dcd" /><Relationship Type="http://schemas.openxmlformats.org/officeDocument/2006/relationships/image" Target="/ppt/media/image4.png" Id="R6c4b3a1319704318" /><Relationship Type="http://schemas.openxmlformats.org/officeDocument/2006/relationships/image" Target="/ppt/media/image5.png" Id="Reeec16a235914cfa" /><Relationship Type="http://schemas.openxmlformats.org/officeDocument/2006/relationships/notesSlide" Target="/ppt/notesSlides/notesSlide8.xml" Id="R2cc12b25d70140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c28cb8c834278" /><Relationship Type="http://schemas.openxmlformats.org/officeDocument/2006/relationships/image" Target="/ppt/media/image6.png" Id="R560b9041ec7f415a" /><Relationship Type="http://schemas.openxmlformats.org/officeDocument/2006/relationships/notesSlide" Target="/ppt/notesSlides/notesSlide9.xml" Id="R49d5110dfb3c44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d92863f9c456e" /><Relationship Type="http://schemas.openxmlformats.org/officeDocument/2006/relationships/notesSlide" Target="/ppt/notesSlides/notesSlide10.xml" Id="Ref06bcb429ab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9D1B7BD-AC47-48C1-A94A-9122290A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HTML / CSS 클론 코딩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D546C5-CC55-40FA-9EF6-46E92370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8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넥슨 고객센터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06CDF1-B31B-4FE0-ADBF-72091CE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화면 구조와 CSS 구현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0EAB52-1DC2-4218-8291-4886AD6A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AX-web-clone</a:t>
            </a:r>
          </a:p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양석호</a:t>
            </a:r>
          </a:p>
        </p:txBody>
      </p:sp>
    </p:spTree>
    <p:extLst>
      <p:ext uri="{BB962C8B-B14F-4D97-AF65-F5344CB8AC3E}">
        <p14:creationId xmlns:p14="http://schemas.microsoft.com/office/powerpoint/2010/main" val="1492783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">
            <a:extLst xmlns:a="http://schemas.openxmlformats.org/drawingml/2006/main">
              <a:ext uri="{FF2B5EF4-FFF2-40B4-BE49-F238E27FC236}">
                <a16:creationId xmlns:a16="http://schemas.microsoft.com/office/drawing/2014/main" id="{EC51B507-DB12-4959-A4B8-9E812A20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고객센터 구현 화면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9478d977f4e26"/>
          <a:stretch xmlns:a="http://schemas.openxmlformats.org/drawingml/2006/main"/>
        </p:blipFill>
        <p:spPr>
          <a:xfrm xmlns:a="http://schemas.openxmlformats.org/drawingml/2006/main">
            <a:off x="514350" y="1316302"/>
            <a:ext cx="7867650" cy="5463646"/>
          </a:xfrm>
          <a:prstGeom xmlns:a="http://schemas.openxmlformats.org/drawingml/2006/main" prst="rect">
            <a:avLst/>
          </a:prstGeom>
        </p:spPr>
      </p:pic>
      <p:sp>
        <p:nvSpPr>
          <p:cNvPr id="3" name="text-5">
            <a:extLst xmlns:a="http://schemas.openxmlformats.org/drawingml/2006/main">
              <a:ext uri="{FF2B5EF4-FFF2-40B4-BE49-F238E27FC236}">
                <a16:creationId xmlns:a16="http://schemas.microsoft.com/office/drawing/2014/main" id="{6D2088FD-C7D9-4816-BDA7-711B554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상단 서비스 메뉴</a:t>
            </a:r>
          </a:p>
        </p:txBody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9639767C-F0CF-4D79-8748-A5C1B175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193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팀의 다른 페이지로 이동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28AEE40C-360D-437F-8047-E5436944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왼쪽 고객센터 메뉴</a:t>
            </a:r>
          </a:p>
        </p:txBody>
      </p:sp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E2A5FAB9-DA27-4BB7-BDFC-608DB4F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게임 구분과 도움말 링크</a:t>
            </a:r>
          </a:p>
        </p:txBody>
      </p:sp>
      <p:sp>
        <p:nvSpPr>
          <p:cNvPr id="7" name="text-9">
            <a:extLst xmlns:a="http://schemas.openxmlformats.org/drawingml/2006/main">
              <a:ext uri="{FF2B5EF4-FFF2-40B4-BE49-F238E27FC236}">
                <a16:creationId xmlns:a16="http://schemas.microsoft.com/office/drawing/2014/main" id="{01613424-96A6-400F-915F-5AD90F0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본문 게임 목록</a:t>
            </a:r>
          </a:p>
        </p:txBody>
      </p:sp>
      <p:sp>
        <p:nvSpPr>
          <p:cNvPr id="8" name="text-10">
            <a:extLst xmlns:a="http://schemas.openxmlformats.org/drawingml/2006/main">
              <a:ext uri="{FF2B5EF4-FFF2-40B4-BE49-F238E27FC236}">
                <a16:creationId xmlns:a16="http://schemas.microsoft.com/office/drawing/2014/main" id="{4D12E2CD-D57D-419E-9C06-7F86B71A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578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게임/서비스 카드 25개</a:t>
            </a:r>
          </a:p>
        </p:txBody>
      </p:sp>
    </p:spTree>
    <p:extLst>
      <p:ext uri="{BB962C8B-B14F-4D97-AF65-F5344CB8AC3E}">
        <p14:creationId xmlns:p14="http://schemas.microsoft.com/office/powerpoint/2010/main" val="500364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DACF7A6E-9D11-436A-809F-680FB36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HTML 구조와 영역별 배치</a:t>
            </a:r>
          </a:p>
        </p:txBody>
      </p:sp>
      <p:sp>
        <p:nvSpPr>
          <p:cNvPr id="2" name="text-12">
            <a:extLst xmlns:a="http://schemas.openxmlformats.org/drawingml/2006/main">
              <a:ext uri="{FF2B5EF4-FFF2-40B4-BE49-F238E27FC236}">
                <a16:creationId xmlns:a16="http://schemas.microsoft.com/office/drawing/2014/main" id="{E16A30B7-840D-45C8-B062-55907712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HTML 영역</a:t>
            </a:r>
          </a:p>
        </p:txBody>
      </p:sp>
      <p:sp>
        <p:nvSpPr>
          <p:cNvPr id="3" name="text-13">
            <a:extLst xmlns:a="http://schemas.openxmlformats.org/drawingml/2006/main">
              <a:ext uri="{FF2B5EF4-FFF2-40B4-BE49-F238E27FC236}">
                <a16:creationId xmlns:a16="http://schemas.microsoft.com/office/drawing/2014/main" id="{859CE5CA-1574-4E35-B3BE-51544DED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7625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header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  로고와 서비스 메뉴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aside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  고객센터 메뉴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  로그인 안내와 게임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footer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  저작권 안내</a:t>
            </a:r>
          </a:p>
        </p:txBody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0353E3F3-D1DD-45F6-B641-BDB49A09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CSS 배치 기준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2E5F3E72-31BC-48CD-AB38-949882B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부모 .service-layout에 display: flex</a:t>
            </a:r>
          </a:p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왼쪽 80px 고정, 오른쪽은 남은 공간</a:t>
            </a:r>
          </a:p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flex: 0 0 80px는 늘거나 줄지 않음</a:t>
            </a:r>
          </a:p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min-width: 0으로 콘텐츠 축소 허용</a:t>
            </a:r>
          </a:p>
        </p:txBody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408FFF92-4E9E-4C5A-A3C7-AD9E016A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4953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.sidebar { flex: 0 0 80px; }</a:t>
            </a:r>
          </a:p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.service-content {</a:t>
            </a:r>
          </a:p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flex: 1;</a:t>
            </a:r>
          </a:p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min-width: 0;</a:t>
            </a:r>
          </a:p>
          <a:p xmlns:a="http://schemas.openxmlformats.org/drawingml/2006/main">
            <a:pPr>
              <a:buNone/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581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tail-100">
            <a:extLst xmlns:a="http://schemas.openxmlformats.org/drawingml/2006/main">
              <a:ext uri="{FF2B5EF4-FFF2-40B4-BE49-F238E27FC236}">
                <a16:creationId xmlns:a16="http://schemas.microsoft.com/office/drawing/2014/main" id="{C4CEA1F4-483C-4701-9B1E-48D73186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헤더 로고를 중앙에 배치하는 방법</a:t>
            </a:r>
          </a:p>
        </p:txBody>
      </p:sp>
      <p:sp>
        <p:nvSpPr>
          <p:cNvPr id="2" name="detail-101">
            <a:extLst xmlns:a="http://schemas.openxmlformats.org/drawingml/2006/main">
              <a:ext uri="{FF2B5EF4-FFF2-40B4-BE49-F238E27FC236}">
                <a16:creationId xmlns:a16="http://schemas.microsoft.com/office/drawing/2014/main" id="{AF25EF65-1927-481A-B76C-3241A9CF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1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배치 기준을 부모에 지정</a:t>
            </a:r>
          </a:p>
        </p:txBody>
      </p:sp>
      <p:sp>
        <p:nvSpPr>
          <p:cNvPr id="3" name="detail-102">
            <a:extLst xmlns:a="http://schemas.openxmlformats.org/drawingml/2006/main">
              <a:ext uri="{FF2B5EF4-FFF2-40B4-BE49-F238E27FC236}">
                <a16:creationId xmlns:a16="http://schemas.microsoft.com/office/drawing/2014/main" id="{731B2E29-7EF3-4020-96F6-B3DD54C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353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.header-top {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position: relative;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.header-logo {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position: absolute;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top: 50%;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left: 50%;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transform: translate(-50%, -50%);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4" name="detail-103">
            <a:extLst xmlns:a="http://schemas.openxmlformats.org/drawingml/2006/main">
              <a:ext uri="{FF2B5EF4-FFF2-40B4-BE49-F238E27FC236}">
                <a16:creationId xmlns:a16="http://schemas.microsoft.com/office/drawing/2014/main" id="{BE9B942D-912A-4007-A892-A89BDB2F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1. 부모의 가운데로 이동</a:t>
            </a:r>
          </a:p>
        </p:txBody>
      </p:sp>
      <p:sp>
        <p:nvSpPr>
          <p:cNvPr id="5" name="detail-104">
            <a:extLst xmlns:a="http://schemas.openxmlformats.org/drawingml/2006/main">
              <a:ext uri="{FF2B5EF4-FFF2-40B4-BE49-F238E27FC236}">
                <a16:creationId xmlns:a16="http://schemas.microsoft.com/office/drawing/2014/main" id="{8ACAADF7-D4D2-42F2-88E8-16CDE0BB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953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top과 left의 50%는</a:t>
            </a:r>
          </a:p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부모를 기준으로 위치를 정함</a:t>
            </a:r>
          </a:p>
        </p:txBody>
      </p:sp>
      <p:sp>
        <p:nvSpPr>
          <p:cNvPr id="6" name="detail-105">
            <a:extLst xmlns:a="http://schemas.openxmlformats.org/drawingml/2006/main">
              <a:ext uri="{FF2B5EF4-FFF2-40B4-BE49-F238E27FC236}">
                <a16:creationId xmlns:a16="http://schemas.microsoft.com/office/drawing/2014/main" id="{D08BE4D3-1AB9-4D99-8DB2-F0EE3887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43275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2. 로고 크기의 절반만큼 보정</a:t>
            </a:r>
          </a:p>
        </p:txBody>
      </p:sp>
      <p:sp>
        <p:nvSpPr>
          <p:cNvPr id="7" name="detail-106">
            <a:extLst xmlns:a="http://schemas.openxmlformats.org/drawingml/2006/main">
              <a:ext uri="{FF2B5EF4-FFF2-40B4-BE49-F238E27FC236}">
                <a16:creationId xmlns:a16="http://schemas.microsoft.com/office/drawing/2014/main" id="{3B11EE59-076D-4BC6-8897-EC97ED6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90975"/>
            <a:ext cx="4953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translate의 -50%는</a:t>
            </a:r>
          </a:p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로고 자신의 너비와 높이가 기준</a:t>
            </a:r>
          </a:p>
        </p:txBody>
      </p:sp>
      <p:sp>
        <p:nvSpPr>
          <p:cNvPr id="8" name="detail-107">
            <a:extLst xmlns:a="http://schemas.openxmlformats.org/drawingml/2006/main">
              <a:ext uri="{FF2B5EF4-FFF2-40B4-BE49-F238E27FC236}">
                <a16:creationId xmlns:a16="http://schemas.microsoft.com/office/drawing/2014/main" id="{96581B0A-37C2-4232-BF15-56F76946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578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좌우 메뉴의 너비가 달라도</a:t>
            </a:r>
          </a:p>
          <a:p xmlns:a="http://schemas.openxmlformats.org/drawingml/2006/main">
            <a:pPr>
              <a:defRPr sz="210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로고는 헤더 중앙에 유지</a:t>
            </a:r>
          </a:p>
        </p:txBody>
      </p:sp>
    </p:spTree>
    <p:extLst>
      <p:ext uri="{BB962C8B-B14F-4D97-AF65-F5344CB8AC3E}">
        <p14:creationId xmlns:p14="http://schemas.microsoft.com/office/powerpoint/2010/main" val="1140900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D86B8870-12FA-49EC-B577-F5B00628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게임 카드의 크기와 줄바꿈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0d0f8c46046cc"/>
          <a:stretch xmlns:a="http://schemas.openxmlformats.org/drawingml/2006/main"/>
        </p:blipFill>
        <p:spPr>
          <a:xfrm xmlns:a="http://schemas.openxmlformats.org/drawingml/2006/main">
            <a:off x="609600" y="1489797"/>
            <a:ext cx="7000875" cy="3097357"/>
          </a:xfrm>
          <a:prstGeom xmlns:a="http://schemas.openxmlformats.org/drawingml/2006/main" prst="rect">
            <a:avLst/>
          </a:prstGeom>
        </p:spPr>
      </p:pic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DAA7CFFE-47EA-4C36-8E63-75A731EC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카드 너비 138px</a:t>
            </a:r>
          </a:p>
        </p:txBody>
      </p:sp>
      <p:sp>
        <p:nvSpPr>
          <p:cNvPr id="4" name="text-19">
            <a:extLst xmlns:a="http://schemas.openxmlformats.org/drawingml/2006/main">
              <a:ext uri="{FF2B5EF4-FFF2-40B4-BE49-F238E27FC236}">
                <a16:creationId xmlns:a16="http://schemas.microsoft.com/office/drawing/2014/main" id="{A4C1A3CF-FCDE-469C-A103-04BAA9F4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이미지는 136 × 136px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이름 영역은 높이 50px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1FBC6A85-A2C7-478E-942D-D53E7B0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가로 간격 32px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세로 간격 62px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D26510C7-96B4-47C0-A83B-189212A9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619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.game-list {</a:t>
            </a:r>
          </a:p>
          <a:p xmlns:a="http://schemas.openxmlformats.org/drawingml/2006/main">
            <a:pPr>
              <a:buNone/>
              <a:def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display: flex;  flex-wrap: wrap;</a:t>
            </a:r>
          </a:p>
          <a:p xmlns:a="http://schemas.openxmlformats.org/drawingml/2006/main">
            <a:pPr>
              <a:buNone/>
              <a:def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gap: 62px 32px;</a:t>
            </a:r>
          </a:p>
          <a:p xmlns:a="http://schemas.openxmlformats.org/drawingml/2006/main">
            <a:pPr>
              <a:buNone/>
              <a:def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9" name="detail-108">
            <a:extLst xmlns:a="http://schemas.openxmlformats.org/drawingml/2006/main">
              <a:ext uri="{FF2B5EF4-FFF2-40B4-BE49-F238E27FC236}">
                <a16:creationId xmlns:a16="http://schemas.microsoft.com/office/drawing/2014/main" id="{4ED79D49-F6AD-4E46-A82B-DF91A3C6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4000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넓은 화면의 한 줄</a:t>
            </a:r>
          </a:p>
          <a:p xmlns:a="http://schemas.openxmlformats.org/drawingml/2006/main">
            <a:pPr>
              <a:defRPr sz="1800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138 × 6 + 32 × 5 = 988px</a:t>
            </a:r>
          </a:p>
          <a:p xmlns:a="http://schemas.openxmlformats.org/drawingml/2006/main">
            <a:pPr>
              <a:defRPr sz="1800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목록 안쪽 최대 너비 990px</a:t>
            </a:r>
          </a:p>
        </p:txBody>
      </p:sp>
    </p:spTree>
    <p:extLst>
      <p:ext uri="{BB962C8B-B14F-4D97-AF65-F5344CB8AC3E}">
        <p14:creationId xmlns:p14="http://schemas.microsoft.com/office/powerpoint/2010/main" val="206677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tail-109">
            <a:extLst xmlns:a="http://schemas.openxmlformats.org/drawingml/2006/main">
              <a:ext uri="{FF2B5EF4-FFF2-40B4-BE49-F238E27FC236}">
                <a16:creationId xmlns:a16="http://schemas.microsoft.com/office/drawing/2014/main" id="{FF8C59C7-C68B-4B28-9CC9-1BC3495A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공통 스타일과 이미지 크기 관리</a:t>
            </a:r>
          </a:p>
        </p:txBody>
      </p:sp>
      <p:sp>
        <p:nvSpPr>
          <p:cNvPr id="2" name="detail-110">
            <a:extLst xmlns:a="http://schemas.openxmlformats.org/drawingml/2006/main">
              <a:ext uri="{FF2B5EF4-FFF2-40B4-BE49-F238E27FC236}">
                <a16:creationId xmlns:a16="http://schemas.microsoft.com/office/drawing/2014/main" id="{E57E8739-B628-4DC9-B88D-0B0277A2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페이지 범위와 크기 계산</a:t>
            </a:r>
          </a:p>
        </p:txBody>
      </p:sp>
      <p:sp>
        <p:nvSpPr>
          <p:cNvPr id="3" name="detail-111">
            <a:extLst xmlns:a="http://schemas.openxmlformats.org/drawingml/2006/main">
              <a:ext uri="{FF2B5EF4-FFF2-40B4-BE49-F238E27FC236}">
                <a16:creationId xmlns:a16="http://schemas.microsoft.com/office/drawing/2014/main" id="{96815BF0-0EEF-4099-AF87-44129E2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27685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.customer-service * {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box-sizing: border-box;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.customer-service h1,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.customer-service h2,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.customer-service ul {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margin: 0;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padding: 0;</a:t>
            </a:r>
          </a:p>
          <a:p xmlns:a="http://schemas.openxmlformats.org/drawingml/2006/main">
            <a:pPr>
              <a:def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4" name="detail-112">
            <a:extLst xmlns:a="http://schemas.openxmlformats.org/drawingml/2006/main">
              <a:ext uri="{FF2B5EF4-FFF2-40B4-BE49-F238E27FC236}">
                <a16:creationId xmlns:a16="http://schemas.microsoft.com/office/drawing/2014/main" id="{BF01C09A-F613-40C6-958B-AA4DD789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페이지 클래스 아래로 스타일 제한</a:t>
            </a:r>
          </a:p>
          <a:p xmlns:a="http://schemas.openxmlformats.org/drawingml/2006/main">
            <a:pPr>
              <a:defRPr sz="17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width에 패딩과 테두리 포함</a:t>
            </a:r>
          </a:p>
          <a:p xmlns:a="http://schemas.openxmlformats.org/drawingml/2006/main">
            <a:pPr>
              <a:defRPr sz="17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제목과 목록의 기본 여백 초기화</a:t>
            </a:r>
          </a:p>
        </p:txBody>
      </p:sp>
      <p:sp>
        <p:nvSpPr>
          <p:cNvPr id="5" name="detail-113">
            <a:extLst xmlns:a="http://schemas.openxmlformats.org/drawingml/2006/main">
              <a:ext uri="{FF2B5EF4-FFF2-40B4-BE49-F238E27FC236}">
                <a16:creationId xmlns:a16="http://schemas.microsoft.com/office/drawing/2014/main" id="{CFAD9DDA-9F10-4FB5-8654-1CF6BD05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335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이미지 공간과 비율</a:t>
            </a:r>
          </a:p>
        </p:txBody>
      </p:sp>
      <p:sp>
        <p:nvSpPr>
          <p:cNvPr id="6" name="detail-114">
            <a:extLst xmlns:a="http://schemas.openxmlformats.org/drawingml/2006/main">
              <a:ext uri="{FF2B5EF4-FFF2-40B4-BE49-F238E27FC236}">
                <a16:creationId xmlns:a16="http://schemas.microsoft.com/office/drawing/2014/main" id="{38522469-BD33-4617-81BF-8E95AE7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57425"/>
            <a:ext cx="502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.customer-service .game-card img {</a:t>
            </a:r>
          </a:p>
          <a:p xmlns:a="http://schemas.openxmlformats.org/drawingml/2006/main">
            <a:pPr>
              <a:def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width: 136px;</a:t>
            </a:r>
          </a:p>
          <a:p xmlns:a="http://schemas.openxmlformats.org/drawingml/2006/main">
            <a:pPr>
              <a:def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height: 136px;</a:t>
            </a:r>
          </a:p>
          <a:p xmlns:a="http://schemas.openxmlformats.org/drawingml/2006/main">
            <a:pPr>
              <a:def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object-fit: cover;</a:t>
            </a:r>
          </a:p>
          <a:p xmlns:a="http://schemas.openxmlformats.org/drawingml/2006/main">
            <a:pPr>
              <a:def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7" name="detail-115">
            <a:extLst xmlns:a="http://schemas.openxmlformats.org/drawingml/2006/main">
              <a:ext uri="{FF2B5EF4-FFF2-40B4-BE49-F238E27FC236}">
                <a16:creationId xmlns:a16="http://schemas.microsoft.com/office/drawing/2014/main" id="{F0BDC965-7AC2-49A7-9A4A-6200E259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52925"/>
            <a:ext cx="5029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이미지 로드 전에도 공간 확보</a:t>
            </a:r>
          </a:p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비율을 유지하며 정사각형 채우기</a:t>
            </a:r>
          </a:p>
          <a:p xmlns:a="http://schemas.openxmlformats.org/drawingml/2006/main">
            <a:pPr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비율이 다르면 가장자리 일부 잘림</a:t>
            </a:r>
          </a:p>
        </p:txBody>
      </p:sp>
      <p:sp>
        <p:nvSpPr>
          <p:cNvPr id="8" name="detail-116">
            <a:extLst xmlns:a="http://schemas.openxmlformats.org/drawingml/2006/main">
              <a:ext uri="{FF2B5EF4-FFF2-40B4-BE49-F238E27FC236}">
                <a16:creationId xmlns:a16="http://schemas.microsoft.com/office/drawing/2014/main" id="{223B37D5-C263-47E1-837D-35DA2EE3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48350"/>
            <a:ext cx="502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이미지 136px + 좌우 테두리 2px</a:t>
            </a:r>
          </a:p>
          <a:p xmlns:a="http://schemas.openxmlformats.org/drawingml/2006/main">
            <a:pPr>
              <a:defRPr sz="18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= 카드 전체 너비 138px</a:t>
            </a:r>
          </a:p>
        </p:txBody>
      </p:sp>
    </p:spTree>
    <p:extLst>
      <p:ext uri="{BB962C8B-B14F-4D97-AF65-F5344CB8AC3E}">
        <p14:creationId xmlns:p14="http://schemas.microsoft.com/office/powerpoint/2010/main" val="1057066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D3B2E35A-C9E7-4A52-AE38-1F6E044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스크롤을 따라가는 왼쪽 메뉴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08931f90944a6"/>
          <a:stretch xmlns:a="http://schemas.openxmlformats.org/drawingml/2006/main"/>
        </p:blipFill>
        <p:spPr>
          <a:xfrm xmlns:a="http://schemas.openxmlformats.org/drawingml/2006/main">
            <a:off x="515112" y="1438275"/>
            <a:ext cx="7351776" cy="5105400"/>
          </a:xfrm>
          <a:prstGeom xmlns:a="http://schemas.openxmlformats.org/drawingml/2006/main" prst="rect">
            <a:avLst/>
          </a:prstGeom>
        </p:spPr>
      </p:pic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8FD47462-9B16-4380-9916-4053DE77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906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배경과 메뉴의 역할 분리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75D2EAD2-1E41-4146-8400-AA3E321A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479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aside는 본문 높이를 채움</a:t>
            </a:r>
          </a:p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nav가 top: 0에 닿으면 붙고</a:t>
            </a:r>
          </a:p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부모 영역 안에서 위치 유지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339A3840-9A3E-48A5-AC88-1AEAD77A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9575"/>
            <a:ext cx="3333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.sidebar nav {</a:t>
            </a:r>
          </a:p>
          <a:p xmlns:a="http://schemas.openxmlformats.org/drawingml/2006/main">
            <a:pPr>
              <a:buNone/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position: sticky;</a:t>
            </a:r>
          </a:p>
          <a:p xmlns:a="http://schemas.openxmlformats.org/drawingml/2006/main">
            <a:pPr>
              <a:buNone/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top: 0;</a:t>
            </a:r>
          </a:p>
          <a:p xmlns:a="http://schemas.openxmlformats.org/drawingml/2006/main">
            <a:pPr>
              <a:buNone/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max-height: 100vh;</a:t>
            </a:r>
          </a:p>
          <a:p xmlns:a="http://schemas.openxmlformats.org/drawingml/2006/main">
            <a:pPr>
              <a:buNone/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  overflow-y: auto;</a:t>
            </a:r>
          </a:p>
          <a:p xmlns:a="http://schemas.openxmlformats.org/drawingml/2006/main">
            <a:pPr>
              <a:buNone/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9088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593DDCD8-6AED-41A8-A83E-5CF0803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CSS로 표현한 선택 상태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6F54B16D-9C14-4A00-86E8-E0854AE9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기본 상태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b3a1319704318"/>
          <a:stretch xmlns:a="http://schemas.openxmlformats.org/drawingml/2006/main"/>
        </p:blipFill>
        <p:spPr>
          <a:xfrm xmlns:a="http://schemas.openxmlformats.org/drawingml/2006/main">
            <a:off x="2705100" y="1407795"/>
            <a:ext cx="8877300" cy="1775460"/>
          </a:xfrm>
          <a:prstGeom xmlns:a="http://schemas.openxmlformats.org/drawingml/2006/main" prst="rect">
            <a:avLst/>
          </a:prstGeom>
        </p:spPr>
      </p:pic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A391F7E7-E8CE-47CF-BB60-CB9699D5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마우스 선택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c16a235914cfa"/>
          <a:stretch xmlns:a="http://schemas.openxmlformats.org/drawingml/2006/main"/>
        </p:blipFill>
        <p:spPr>
          <a:xfrm xmlns:a="http://schemas.openxmlformats.org/drawingml/2006/main">
            <a:off x="2705100" y="3474720"/>
            <a:ext cx="8877300" cy="1775460"/>
          </a:xfrm>
          <a:prstGeom xmlns:a="http://schemas.openxmlformats.org/drawingml/2006/main" prst="rect">
            <a:avLst/>
          </a:prstGeom>
        </p:spPr>
      </p:pic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787A1D84-1904-4252-BE66-6803FE8E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:hover와 :focus-visible에 같은 강조색 적용</a:t>
            </a:r>
          </a:p>
        </p:txBody>
      </p:sp>
      <p:sp>
        <p:nvSpPr>
          <p:cNvPr id="10" name="detail-117">
            <a:extLst xmlns:a="http://schemas.openxmlformats.org/drawingml/2006/main">
              <a:ext uri="{FF2B5EF4-FFF2-40B4-BE49-F238E27FC236}">
                <a16:creationId xmlns:a16="http://schemas.microsoft.com/office/drawing/2014/main" id="{7FB879A0-9294-4979-A1A9-D8A743A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버튼 색은 0.2초 동안 전환 / 카드 그림자는 크기 변화 없이 강조</a:t>
            </a:r>
          </a:p>
        </p:txBody>
      </p:sp>
    </p:spTree>
    <p:extLst>
      <p:ext uri="{BB962C8B-B14F-4D97-AF65-F5344CB8AC3E}">
        <p14:creationId xmlns:p14="http://schemas.microsoft.com/office/powerpoint/2010/main" val="855842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02184F8B-57B9-448A-B818-6BF5A6E8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팀 페이지와 외부 서비스 연결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b9041ec7f415a"/>
          <a:stretch xmlns:a="http://schemas.openxmlformats.org/drawingml/2006/main"/>
        </p:blipFill>
        <p:spPr>
          <a:xfrm xmlns:a="http://schemas.openxmlformats.org/drawingml/2006/main">
            <a:off x="609600" y="1460183"/>
            <a:ext cx="10972800" cy="899160"/>
          </a:xfrm>
          <a:prstGeom xmlns:a="http://schemas.openxmlformats.org/drawingml/2006/main" prst="rect">
            <a:avLst/>
          </a:prstGeom>
        </p:spPr>
      </p:pic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B62C282B-AF93-4E00-9D8B-8CC750B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프로젝트 내부 링크</a:t>
            </a:r>
          </a:p>
        </p:txBody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D00EBF54-1A0E-472F-A65F-98DAD40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816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로고는 메인 페이지로 이동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회원가입과 로그인은 로그인 페이지로 이동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공지사항, MY결제, 보안센터 연결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3B497291-84DE-4563-8800-924CBE7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765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외부 서비스 링크</a:t>
            </a:r>
          </a:p>
        </p:txBody>
      </p:sp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C74F8426-C2F5-460D-8CFA-1879007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33800"/>
            <a:ext cx="504825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게임 카드는 각 문의 페이지로 이동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이벤트와 내정보는 넥슨 서비스 연결</a:t>
            </a:r>
          </a:p>
          <a:p xmlns:a="http://schemas.openxmlformats.org/drawingml/2006/main">
            <a:pPr>
              <a:buNone/>
              <a:def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문의방법, 다운로드, 신고하기 연결</a:t>
            </a:r>
          </a:p>
        </p:txBody>
      </p:sp>
      <p:sp>
        <p:nvSpPr>
          <p:cNvPr id="9" name="detail-118">
            <a:extLst xmlns:a="http://schemas.openxmlformats.org/drawingml/2006/main">
              <a:ext uri="{FF2B5EF4-FFF2-40B4-BE49-F238E27FC236}">
                <a16:creationId xmlns:a16="http://schemas.microsoft.com/office/drawing/2014/main" id="{36503D8C-85F1-43A8-A2C5-F11229FB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현재 메뉴는 aria-current="page"로 지정하고, 속성 선택자로 밑줄과 글자색 적용</a:t>
            </a:r>
          </a:p>
        </p:txBody>
      </p:sp>
    </p:spTree>
    <p:extLst>
      <p:ext uri="{BB962C8B-B14F-4D97-AF65-F5344CB8AC3E}">
        <p14:creationId xmlns:p14="http://schemas.microsoft.com/office/powerpoint/2010/main" val="1868541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C17173B0-30A9-4DE1-A3B1-0277A69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구현 범위와 시연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C68FDBBD-D935-422F-8A03-1EE6A1F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구현한 부분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1292188D-0942-478B-939A-118FE50A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1911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HTML 화면 구조</a:t>
            </a:r>
          </a:p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Flex 기반 배치와 카드 줄바꿈</a:t>
            </a:r>
          </a:p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스크롤 메뉴와 CSS 선택 상태</a:t>
            </a:r>
          </a:p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내부 페이지와 외부 서비스 링크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F89BDF42-D2EC-4759-A351-30DB32F4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525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55D6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55D6B"/>
                </a:solidFill>
                <a:latin typeface="Malgun Gothic"/>
                <a:ea typeface="Malgun Gothic"/>
                <a:cs typeface="Malgun Gothic"/>
              </a:rPr>
              <a:t>현재 범위에 없는 부분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D8EDE086-E48F-4BFC-8FF4-12417B7C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66975"/>
            <a:ext cx="50292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로그인 인증과 문의 접수 처리</a:t>
            </a:r>
          </a:p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메뉴 / 전체 서비스 보기 버튼 동작</a:t>
            </a:r>
          </a:p>
          <a:p xmlns:a="http://schemas.openxmlformats.org/drawingml/2006/main">
            <a:pPr>
              <a:buNone/>
              <a:def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화면 크기별 전용 미디어쿼리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2BB10473-E0D4-46C0-A508-3971C629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5CC9"/>
                </a:solidFill>
                <a:latin typeface="Malgun Gothic"/>
                <a:ea typeface="Malgun Gothic"/>
                <a:cs typeface="Malgun Gothic"/>
              </a:rPr>
              <a:t>시연 순서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5E56D58D-EE8D-48FC-A0EC-83EF5E65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191C"/>
                </a:solidFill>
                <a:latin typeface="Malgun Gothic"/>
                <a:ea typeface="Malgun Gothic"/>
                <a:cs typeface="Malgun Gothic"/>
              </a:rPr>
              <a:t>전체 화면 확인  /  스크롤  /  버튼 선택 상태  /  페이지 이동</a:t>
            </a:r>
          </a:p>
        </p:txBody>
      </p:sp>
    </p:spTree>
    <p:extLst>
      <p:ext uri="{BB962C8B-B14F-4D97-AF65-F5344CB8AC3E}">
        <p14:creationId xmlns:p14="http://schemas.microsoft.com/office/powerpoint/2010/main" val="1620894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2026-09-18T05:01:35.7470000Z</dcterms:created>
  <dcterms:modified xsi:type="dcterms:W3CDTF">2026-09-18T05:01:35.7470000Z</dcterms:modified>
</coreProperties>
</file>